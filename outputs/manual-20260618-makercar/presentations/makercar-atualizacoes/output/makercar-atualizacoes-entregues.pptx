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10E2F70C-2BAB-4462-9CB2-FA58830BE9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0616E80-76AA-46E7-BFB5-6B2D4937B3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E3E616E-9013-4E3C-B4B3-4F4DCD4F643A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MakerCar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F5B0DA3-84B9-4C83-9217-7B0C8B5F2D1E}"/>
              </a:ext>
            </a:extLst>
          </p:cNvPr>
          <p:cNvSpPr>
            <a:spLocks noGrp="1"/>
          </p:cNvSpPr>
          <p:nvPr/>
        </p:nvSpPr>
        <p:spPr>
          <a:xfrm>
            <a:off x="9858375" y="2857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Atualizações entregues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08785BD-8A7A-46B7-9CC0-E8CC68447D91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5334000" cy="6858000"/>
          </a:xfrm>
          <a:prstGeom prst="rect">
            <a:avLst/>
          </a:prstGeom>
          <a:solidFill>
            <a:srgbClr val="123B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78248EC-9850-4D0F-9191-B76ED7C31F72}"/>
              </a:ext>
            </a:extLst>
          </p:cNvPr>
          <p:cNvSpPr>
            <a:spLocks noGrp="1"/>
          </p:cNvSpPr>
          <p:nvPr/>
        </p:nvSpPr>
        <p:spPr>
          <a:xfrm>
            <a:off x="7239000" y="838200"/>
            <a:ext cx="3905250" cy="2381250"/>
          </a:xfrm>
          <a:prstGeom prst="rect">
            <a:avLst/>
          </a:prstGeom>
          <a:solidFill>
            <a:srgbClr val="174FBF"/>
          </a:solidFill>
          <a:ln w="0">
            <a:solidFill>
              <a:srgbClr val="174FBF"/>
            </a:solidFill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028E51B-336A-4846-A49F-059C89487379}"/>
              </a:ext>
            </a:extLst>
          </p:cNvPr>
          <p:cNvSpPr>
            <a:spLocks noGrp="1"/>
          </p:cNvSpPr>
          <p:nvPr/>
        </p:nvSpPr>
        <p:spPr>
          <a:xfrm>
            <a:off x="7734300" y="1333500"/>
            <a:ext cx="2952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9CC2FF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55C5FD-DB3D-4493-B1D3-0C6239CC1D99}"/>
              </a:ext>
            </a:extLst>
          </p:cNvPr>
          <p:cNvSpPr>
            <a:spLocks noGrp="1"/>
          </p:cNvSpPr>
          <p:nvPr/>
        </p:nvSpPr>
        <p:spPr>
          <a:xfrm>
            <a:off x="7734300" y="1981200"/>
            <a:ext cx="2952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9CC2FF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43ED85E-1A3D-47CD-AE5B-4359F78AD794}"/>
              </a:ext>
            </a:extLst>
          </p:cNvPr>
          <p:cNvSpPr>
            <a:spLocks noGrp="1"/>
          </p:cNvSpPr>
          <p:nvPr/>
        </p:nvSpPr>
        <p:spPr>
          <a:xfrm>
            <a:off x="7734300" y="2628900"/>
            <a:ext cx="2952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9CC2FF"/>
            </a:solidFill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6E7BD1B-3C51-40BE-A05E-273E093056EF}"/>
              </a:ext>
            </a:extLst>
          </p:cNvPr>
          <p:cNvSpPr>
            <a:spLocks noGrp="1"/>
          </p:cNvSpPr>
          <p:nvPr/>
        </p:nvSpPr>
        <p:spPr>
          <a:xfrm>
            <a:off x="8020050" y="145732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Checklist de retirada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A59AB3C-1BA2-4262-B571-DB875969B9A2}"/>
              </a:ext>
            </a:extLst>
          </p:cNvPr>
          <p:cNvSpPr>
            <a:spLocks noGrp="1"/>
          </p:cNvSpPr>
          <p:nvPr/>
        </p:nvSpPr>
        <p:spPr>
          <a:xfrm>
            <a:off x="8020050" y="2105025"/>
            <a:ext cx="22383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Checklist de devolução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D011A27-7CD6-40A6-BCD6-8094DFB3965F}"/>
              </a:ext>
            </a:extLst>
          </p:cNvPr>
          <p:cNvSpPr>
            <a:spLocks noGrp="1"/>
          </p:cNvSpPr>
          <p:nvPr/>
        </p:nvSpPr>
        <p:spPr>
          <a:xfrm>
            <a:off x="8020050" y="2752725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Histórico por veículo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03E0606-5AE8-4B12-95EF-4E50054FBC2A}"/>
              </a:ext>
            </a:extLst>
          </p:cNvPr>
          <p:cNvSpPr>
            <a:spLocks noGrp="1"/>
          </p:cNvSpPr>
          <p:nvPr/>
        </p:nvSpPr>
        <p:spPr>
          <a:xfrm>
            <a:off x="7524750" y="1466850"/>
            <a:ext cx="171450" cy="171450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A0B77BB-4863-46AA-9748-EB5941B39383}"/>
              </a:ext>
            </a:extLst>
          </p:cNvPr>
          <p:cNvSpPr>
            <a:spLocks noGrp="1"/>
          </p:cNvSpPr>
          <p:nvPr/>
        </p:nvSpPr>
        <p:spPr>
          <a:xfrm>
            <a:off x="7524750" y="2114550"/>
            <a:ext cx="171450" cy="171450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CAFB78F-B0A3-40CB-9C55-2C37CE152B19}"/>
              </a:ext>
            </a:extLst>
          </p:cNvPr>
          <p:cNvSpPr>
            <a:spLocks noGrp="1"/>
          </p:cNvSpPr>
          <p:nvPr/>
        </p:nvSpPr>
        <p:spPr>
          <a:xfrm>
            <a:off x="7524750" y="2762250"/>
            <a:ext cx="171450" cy="171450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079DE36-917C-49C9-A926-953BA8493CAC}"/>
              </a:ext>
            </a:extLst>
          </p:cNvPr>
          <p:cNvSpPr>
            <a:spLocks noGrp="1"/>
          </p:cNvSpPr>
          <p:nvPr/>
        </p:nvSpPr>
        <p:spPr>
          <a:xfrm>
            <a:off x="7334250" y="3848100"/>
            <a:ext cx="3429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Frota com retirada, devolução e consulta mais controladas.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CC09336-D95F-49CB-9146-56C4EB429B19}"/>
              </a:ext>
            </a:extLst>
          </p:cNvPr>
          <p:cNvSpPr>
            <a:spLocks noGrp="1"/>
          </p:cNvSpPr>
          <p:nvPr/>
        </p:nvSpPr>
        <p:spPr>
          <a:xfrm>
            <a:off x="7353300" y="5105400"/>
            <a:ext cx="3143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Entrega publicada no domínio e organizada para validação operacional.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205D246-2F54-4DB9-B47F-F380F3478844}"/>
              </a:ext>
            </a:extLst>
          </p:cNvPr>
          <p:cNvSpPr>
            <a:spLocks noGrp="1"/>
          </p:cNvSpPr>
          <p:nvPr/>
        </p:nvSpPr>
        <p:spPr>
          <a:xfrm>
            <a:off x="590550" y="1257300"/>
            <a:ext cx="54292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MakerCar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E568DF9-0C8C-4B6D-8A6C-3A8E4D1D9748}"/>
              </a:ext>
            </a:extLst>
          </p:cNvPr>
          <p:cNvSpPr>
            <a:spLocks noGrp="1"/>
          </p:cNvSpPr>
          <p:nvPr/>
        </p:nvSpPr>
        <p:spPr>
          <a:xfrm>
            <a:off x="628650" y="2019300"/>
            <a:ext cx="5334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Resumo das melhorias entregues no sistema de veículos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44056F3-2399-414E-B1D1-E14F9D39A753}"/>
              </a:ext>
            </a:extLst>
          </p:cNvPr>
          <p:cNvSpPr>
            <a:spLocks noGrp="1"/>
          </p:cNvSpPr>
          <p:nvPr/>
        </p:nvSpPr>
        <p:spPr>
          <a:xfrm>
            <a:off x="647700" y="3048000"/>
            <a:ext cx="5143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Foco em rastreabilidade, checklist documentado, fotos obrigatórias e histórico com visualização organizada.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30E3D74-AC40-46AF-AEF2-15134FBB60CB}"/>
              </a:ext>
            </a:extLst>
          </p:cNvPr>
          <p:cNvSpPr>
            <a:spLocks noGrp="1"/>
          </p:cNvSpPr>
          <p:nvPr/>
        </p:nvSpPr>
        <p:spPr>
          <a:xfrm>
            <a:off x="628650" y="4572000"/>
            <a:ext cx="2047875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475FDF2-D9B8-4AA5-9DDC-7F5E562BB84B}"/>
              </a:ext>
            </a:extLst>
          </p:cNvPr>
          <p:cNvSpPr>
            <a:spLocks noGrp="1"/>
          </p:cNvSpPr>
          <p:nvPr/>
        </p:nvSpPr>
        <p:spPr>
          <a:xfrm>
            <a:off x="838200" y="4676775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Checklist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3FF2F7B-0527-433D-BE5B-69D384D2BC94}"/>
              </a:ext>
            </a:extLst>
          </p:cNvPr>
          <p:cNvSpPr>
            <a:spLocks noGrp="1"/>
          </p:cNvSpPr>
          <p:nvPr/>
        </p:nvSpPr>
        <p:spPr>
          <a:xfrm>
            <a:off x="2857500" y="4572000"/>
            <a:ext cx="2047875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E219003-B76F-47E4-A8D0-A5BAA4117EA5}"/>
              </a:ext>
            </a:extLst>
          </p:cNvPr>
          <p:cNvSpPr>
            <a:spLocks noGrp="1"/>
          </p:cNvSpPr>
          <p:nvPr/>
        </p:nvSpPr>
        <p:spPr>
          <a:xfrm>
            <a:off x="3067050" y="4676775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Histórico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70A60CB-85CD-4ADA-B202-277A560A1664}"/>
              </a:ext>
            </a:extLst>
          </p:cNvPr>
          <p:cNvSpPr>
            <a:spLocks noGrp="1"/>
          </p:cNvSpPr>
          <p:nvPr/>
        </p:nvSpPr>
        <p:spPr>
          <a:xfrm>
            <a:off x="628650" y="5143500"/>
            <a:ext cx="2047875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E2577E8-6A13-4BA6-9C33-4026138C87BC}"/>
              </a:ext>
            </a:extLst>
          </p:cNvPr>
          <p:cNvSpPr>
            <a:spLocks noGrp="1"/>
          </p:cNvSpPr>
          <p:nvPr/>
        </p:nvSpPr>
        <p:spPr>
          <a:xfrm>
            <a:off x="838200" y="5248275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Frota ajustada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84B258D-E4A8-4564-934C-62BBF3FABE26}"/>
              </a:ext>
            </a:extLst>
          </p:cNvPr>
          <p:cNvSpPr>
            <a:spLocks noGrp="1"/>
          </p:cNvSpPr>
          <p:nvPr/>
        </p:nvSpPr>
        <p:spPr>
          <a:xfrm>
            <a:off x="2857500" y="5143500"/>
            <a:ext cx="2047875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3BCBDEC-A2BC-4815-8D4B-4A35CC921D09}"/>
              </a:ext>
            </a:extLst>
          </p:cNvPr>
          <p:cNvSpPr>
            <a:spLocks noGrp="1"/>
          </p:cNvSpPr>
          <p:nvPr/>
        </p:nvSpPr>
        <p:spPr>
          <a:xfrm>
            <a:off x="3067050" y="5248275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Publicação</a:t>
            </a:r>
          </a:p>
        </p:txBody>
      </p:sp>
    </p:spTree>
    <p:extLst>
      <p:ext uri="{BB962C8B-B14F-4D97-AF65-F5344CB8AC3E}">
        <p14:creationId xmlns:p14="http://schemas.microsoft.com/office/powerpoint/2010/main" val="1270881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tângulo 44">
            <a:extLst>
              <a:ext uri="{FF2B5EF4-FFF2-40B4-BE49-F238E27FC236}">
                <a16:creationId xmlns:a16="http://schemas.microsoft.com/office/drawing/2014/main" id="{B35E88FE-5D73-443A-81D7-E758AF96EB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6FD8A33-120C-4C8A-92B3-B7DB0B964B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05642E1-6A45-4ECA-936C-9425A3999651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MakerCar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AA8F7E0-2EDA-4225-BDC2-931D1556B418}"/>
              </a:ext>
            </a:extLst>
          </p:cNvPr>
          <p:cNvSpPr>
            <a:spLocks noGrp="1"/>
          </p:cNvSpPr>
          <p:nvPr/>
        </p:nvSpPr>
        <p:spPr>
          <a:xfrm>
            <a:off x="9858375" y="2857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Visão geral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E213F45-3B5E-4E6C-9337-A6717BE4CDCD}"/>
              </a:ext>
            </a:extLst>
          </p:cNvPr>
          <p:cNvSpPr>
            <a:spLocks noGrp="1"/>
          </p:cNvSpPr>
          <p:nvPr/>
        </p:nvSpPr>
        <p:spPr>
          <a:xfrm>
            <a:off x="514350" y="742950"/>
            <a:ext cx="7239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fluxo de frota ficou mais rastreável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BEBD0D5-CF88-449A-B4B8-BF01F7FF9F8F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715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entrega organiza a jornada completa: reservar, retirar, devolver e consultar o histórico do veículo.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AA9E8CE-4E43-48A6-A73A-984339BC604A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2238375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9DA4AAE-6D48-43BD-8AAB-9755A1A2D7B0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18192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B7BF30C-AD24-4A66-807C-108077EB87B2}"/>
              </a:ext>
            </a:extLst>
          </p:cNvPr>
          <p:cNvSpPr>
            <a:spLocks noGrp="1"/>
          </p:cNvSpPr>
          <p:nvPr/>
        </p:nvSpPr>
        <p:spPr>
          <a:xfrm>
            <a:off x="838200" y="2790825"/>
            <a:ext cx="17811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veículos operacionais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2D06B4B-579B-4752-B608-3CF72C0D57A3}"/>
              </a:ext>
            </a:extLst>
          </p:cNvPr>
          <p:cNvSpPr>
            <a:spLocks noGrp="1"/>
          </p:cNvSpPr>
          <p:nvPr/>
        </p:nvSpPr>
        <p:spPr>
          <a:xfrm>
            <a:off x="838200" y="3057525"/>
            <a:ext cx="17811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frota exibida foi ajustada para os carros que rodam na operação.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329DDE4-5F50-47B5-A0C3-6C0E99A9025E}"/>
              </a:ext>
            </a:extLst>
          </p:cNvPr>
          <p:cNvSpPr>
            <a:spLocks noGrp="1"/>
          </p:cNvSpPr>
          <p:nvPr/>
        </p:nvSpPr>
        <p:spPr>
          <a:xfrm>
            <a:off x="3067050" y="2143125"/>
            <a:ext cx="2238375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5AF8821-E378-4AB0-8414-024B7618F461}"/>
              </a:ext>
            </a:extLst>
          </p:cNvPr>
          <p:cNvSpPr>
            <a:spLocks noGrp="1"/>
          </p:cNvSpPr>
          <p:nvPr/>
        </p:nvSpPr>
        <p:spPr>
          <a:xfrm>
            <a:off x="3276600" y="2333625"/>
            <a:ext cx="18192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89B5663-D504-46B6-8116-0582D16B6B30}"/>
              </a:ext>
            </a:extLst>
          </p:cNvPr>
          <p:cNvSpPr>
            <a:spLocks noGrp="1"/>
          </p:cNvSpPr>
          <p:nvPr/>
        </p:nvSpPr>
        <p:spPr>
          <a:xfrm>
            <a:off x="3295650" y="2790825"/>
            <a:ext cx="17811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checklists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3CE8AC3-B24A-4BEE-9FA4-7B31820C7CDE}"/>
              </a:ext>
            </a:extLst>
          </p:cNvPr>
          <p:cNvSpPr>
            <a:spLocks noGrp="1"/>
          </p:cNvSpPr>
          <p:nvPr/>
        </p:nvSpPr>
        <p:spPr>
          <a:xfrm>
            <a:off x="3295650" y="3057525"/>
            <a:ext cx="17811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Retirada e devolução agora têm campos próprios e registro de evidências.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5171C40-F39E-4AB2-B96E-75EBAE9D2B89}"/>
              </a:ext>
            </a:extLst>
          </p:cNvPr>
          <p:cNvSpPr>
            <a:spLocks noGrp="1"/>
          </p:cNvSpPr>
          <p:nvPr/>
        </p:nvSpPr>
        <p:spPr>
          <a:xfrm>
            <a:off x="5524500" y="2143125"/>
            <a:ext cx="2238375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97BA309-3285-49F3-8418-30D03911535B}"/>
              </a:ext>
            </a:extLst>
          </p:cNvPr>
          <p:cNvSpPr>
            <a:spLocks noGrp="1"/>
          </p:cNvSpPr>
          <p:nvPr/>
        </p:nvSpPr>
        <p:spPr>
          <a:xfrm>
            <a:off x="5734050" y="2333625"/>
            <a:ext cx="18192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F7B6B28-3CC8-444C-8DC5-BF7FB0B7D7E7}"/>
              </a:ext>
            </a:extLst>
          </p:cNvPr>
          <p:cNvSpPr>
            <a:spLocks noGrp="1"/>
          </p:cNvSpPr>
          <p:nvPr/>
        </p:nvSpPr>
        <p:spPr>
          <a:xfrm>
            <a:off x="5753100" y="2790825"/>
            <a:ext cx="17811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histórico central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A917E66-533F-423E-8697-E711D2D9D1F6}"/>
              </a:ext>
            </a:extLst>
          </p:cNvPr>
          <p:cNvSpPr>
            <a:spLocks noGrp="1"/>
          </p:cNvSpPr>
          <p:nvPr/>
        </p:nvSpPr>
        <p:spPr>
          <a:xfrm>
            <a:off x="5753100" y="3057525"/>
            <a:ext cx="17811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consulta ganhou botões dedicados para abrir os dados de cada checklist.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BA9EBF7-7D0E-4C82-8203-2D2891B6C0F3}"/>
              </a:ext>
            </a:extLst>
          </p:cNvPr>
          <p:cNvSpPr>
            <a:spLocks noGrp="1"/>
          </p:cNvSpPr>
          <p:nvPr/>
        </p:nvSpPr>
        <p:spPr>
          <a:xfrm>
            <a:off x="7981950" y="2143125"/>
            <a:ext cx="28575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9F33EE5-9DA0-4681-BB1F-5C63895D556D}"/>
              </a:ext>
            </a:extLst>
          </p:cNvPr>
          <p:cNvSpPr>
            <a:spLocks noGrp="1"/>
          </p:cNvSpPr>
          <p:nvPr/>
        </p:nvSpPr>
        <p:spPr>
          <a:xfrm>
            <a:off x="8191500" y="2333625"/>
            <a:ext cx="2438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online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B1DE929-93FA-472A-838F-4A4C0872C176}"/>
              </a:ext>
            </a:extLst>
          </p:cNvPr>
          <p:cNvSpPr>
            <a:spLocks noGrp="1"/>
          </p:cNvSpPr>
          <p:nvPr/>
        </p:nvSpPr>
        <p:spPr>
          <a:xfrm>
            <a:off x="8210550" y="2790825"/>
            <a:ext cx="2400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publicado no domínio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2A67C2B-D10B-47C3-83B9-CFF5046D89BB}"/>
              </a:ext>
            </a:extLst>
          </p:cNvPr>
          <p:cNvSpPr>
            <a:spLocks noGrp="1"/>
          </p:cNvSpPr>
          <p:nvPr/>
        </p:nvSpPr>
        <p:spPr>
          <a:xfrm>
            <a:off x="8210550" y="3057525"/>
            <a:ext cx="2400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Frontend publicado para validação no site da MakerCar.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31D8E05-4AF5-47A3-A833-B4A7B1A2B568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1952625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0FD4231-E93D-4618-A89A-9D3AF3DCCF72}"/>
              </a:ext>
            </a:extLst>
          </p:cNvPr>
          <p:cNvSpPr>
            <a:spLocks noGrp="1"/>
          </p:cNvSpPr>
          <p:nvPr/>
        </p:nvSpPr>
        <p:spPr>
          <a:xfrm>
            <a:off x="857250" y="4619625"/>
            <a:ext cx="266700" cy="2667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29896E2-A408-461A-88B4-1251C3C5AEC9}"/>
              </a:ext>
            </a:extLst>
          </p:cNvPr>
          <p:cNvSpPr>
            <a:spLocks noGrp="1"/>
          </p:cNvSpPr>
          <p:nvPr/>
        </p:nvSpPr>
        <p:spPr>
          <a:xfrm>
            <a:off x="1238250" y="4600575"/>
            <a:ext cx="1228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Solicitação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3E96AAD-9FF0-4F1B-BF0E-5D81C8453898}"/>
              </a:ext>
            </a:extLst>
          </p:cNvPr>
          <p:cNvSpPr>
            <a:spLocks noGrp="1"/>
          </p:cNvSpPr>
          <p:nvPr/>
        </p:nvSpPr>
        <p:spPr>
          <a:xfrm>
            <a:off x="876300" y="4981575"/>
            <a:ext cx="1571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Colaborador solicita o veículo.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0E0308DA-A186-45C0-9C12-9EEECE9E4BF5}"/>
              </a:ext>
            </a:extLst>
          </p:cNvPr>
          <p:cNvSpPr>
            <a:spLocks noGrp="1"/>
          </p:cNvSpPr>
          <p:nvPr/>
        </p:nvSpPr>
        <p:spPr>
          <a:xfrm>
            <a:off x="2762250" y="4943475"/>
            <a:ext cx="723900" cy="38100"/>
          </a:xfrm>
          <a:prstGeom prst="rect">
            <a:avLst/>
          </a:prstGeom>
          <a:solidFill>
            <a:srgbClr val="DBE4EF"/>
          </a:solidFill>
          <a:ln w="0">
            <a:solidFill>
              <a:srgbClr val="DBE4EF"/>
            </a:solidFill>
            <a:prstDash val="solid"/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D3E9238-DACC-4F7E-A060-4988719B818D}"/>
              </a:ext>
            </a:extLst>
          </p:cNvPr>
          <p:cNvSpPr>
            <a:spLocks noGrp="1"/>
          </p:cNvSpPr>
          <p:nvPr/>
        </p:nvSpPr>
        <p:spPr>
          <a:xfrm>
            <a:off x="3429000" y="4876800"/>
            <a:ext cx="171450" cy="171450"/>
          </a:xfrm>
          <a:prstGeom prst="rect">
            <a:avLst/>
          </a:prstGeom>
          <a:solidFill>
            <a:srgbClr val="DBE4EF"/>
          </a:solidFill>
          <a:ln w="0">
            <a:solidFill>
              <a:srgbClr val="DBE4EF"/>
            </a:solidFill>
            <a:prstDash val="solid"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776E4B7F-0296-40C8-B59D-6B77034BDF2B}"/>
              </a:ext>
            </a:extLst>
          </p:cNvPr>
          <p:cNvSpPr>
            <a:spLocks noGrp="1"/>
          </p:cNvSpPr>
          <p:nvPr/>
        </p:nvSpPr>
        <p:spPr>
          <a:xfrm>
            <a:off x="3676650" y="4429125"/>
            <a:ext cx="1952625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999CA675-B311-462E-8229-6007D709EB5B}"/>
              </a:ext>
            </a:extLst>
          </p:cNvPr>
          <p:cNvSpPr>
            <a:spLocks noGrp="1"/>
          </p:cNvSpPr>
          <p:nvPr/>
        </p:nvSpPr>
        <p:spPr>
          <a:xfrm>
            <a:off x="3848100" y="4619625"/>
            <a:ext cx="266700" cy="266700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3BD8A339-852F-427C-BB4D-24F0975C3650}"/>
              </a:ext>
            </a:extLst>
          </p:cNvPr>
          <p:cNvSpPr>
            <a:spLocks noGrp="1"/>
          </p:cNvSpPr>
          <p:nvPr/>
        </p:nvSpPr>
        <p:spPr>
          <a:xfrm>
            <a:off x="4229100" y="4600575"/>
            <a:ext cx="1228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Retirada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FAAD70A-0F39-484D-A0A8-CA81D705B92C}"/>
              </a:ext>
            </a:extLst>
          </p:cNvPr>
          <p:cNvSpPr>
            <a:spLocks noGrp="1"/>
          </p:cNvSpPr>
          <p:nvPr/>
        </p:nvSpPr>
        <p:spPr>
          <a:xfrm>
            <a:off x="3867150" y="4981575"/>
            <a:ext cx="1571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KM, combustível, fotos e itens conferidos.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FD479756-CFA4-476D-90A7-75CF9BB8E669}"/>
              </a:ext>
            </a:extLst>
          </p:cNvPr>
          <p:cNvSpPr>
            <a:spLocks noGrp="1"/>
          </p:cNvSpPr>
          <p:nvPr/>
        </p:nvSpPr>
        <p:spPr>
          <a:xfrm>
            <a:off x="5753100" y="4943475"/>
            <a:ext cx="723900" cy="38100"/>
          </a:xfrm>
          <a:prstGeom prst="rect">
            <a:avLst/>
          </a:prstGeom>
          <a:solidFill>
            <a:srgbClr val="DBE4EF"/>
          </a:solidFill>
          <a:ln w="0">
            <a:solidFill>
              <a:srgbClr val="DBE4EF"/>
            </a:solidFill>
            <a:prstDash val="solid"/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65DC8F2A-98BA-45A2-B9A8-12F583F5466F}"/>
              </a:ext>
            </a:extLst>
          </p:cNvPr>
          <p:cNvSpPr>
            <a:spLocks noGrp="1"/>
          </p:cNvSpPr>
          <p:nvPr/>
        </p:nvSpPr>
        <p:spPr>
          <a:xfrm>
            <a:off x="6419850" y="4876800"/>
            <a:ext cx="171450" cy="171450"/>
          </a:xfrm>
          <a:prstGeom prst="rect">
            <a:avLst/>
          </a:prstGeom>
          <a:solidFill>
            <a:srgbClr val="DBE4EF"/>
          </a:solidFill>
          <a:ln w="0">
            <a:solidFill>
              <a:srgbClr val="DBE4EF"/>
            </a:solidFill>
            <a:prstDash val="solid"/>
          </a:ln>
        </p:spPr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4AD030B6-DAC8-42AB-A8B0-D5EB73D8A956}"/>
              </a:ext>
            </a:extLst>
          </p:cNvPr>
          <p:cNvSpPr>
            <a:spLocks noGrp="1"/>
          </p:cNvSpPr>
          <p:nvPr/>
        </p:nvSpPr>
        <p:spPr>
          <a:xfrm>
            <a:off x="6667500" y="4429125"/>
            <a:ext cx="1952625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F0B4B483-50F9-4F7F-A973-FD3BAD361450}"/>
              </a:ext>
            </a:extLst>
          </p:cNvPr>
          <p:cNvSpPr>
            <a:spLocks noGrp="1"/>
          </p:cNvSpPr>
          <p:nvPr/>
        </p:nvSpPr>
        <p:spPr>
          <a:xfrm>
            <a:off x="6838950" y="4619625"/>
            <a:ext cx="266700" cy="2667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996564BE-AC85-4074-AE7A-6B66DCA21D48}"/>
              </a:ext>
            </a:extLst>
          </p:cNvPr>
          <p:cNvSpPr>
            <a:spLocks noGrp="1"/>
          </p:cNvSpPr>
          <p:nvPr/>
        </p:nvSpPr>
        <p:spPr>
          <a:xfrm>
            <a:off x="7219950" y="4600575"/>
            <a:ext cx="1228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Devolução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98D56FC7-2C04-430F-BFB3-2BF553B2C9C1}"/>
              </a:ext>
            </a:extLst>
          </p:cNvPr>
          <p:cNvSpPr>
            <a:spLocks noGrp="1"/>
          </p:cNvSpPr>
          <p:nvPr/>
        </p:nvSpPr>
        <p:spPr>
          <a:xfrm>
            <a:off x="6858000" y="4981575"/>
            <a:ext cx="1571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Conferência final e observações.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96EA026F-B3DB-4952-ADD2-851A306A4FD1}"/>
              </a:ext>
            </a:extLst>
          </p:cNvPr>
          <p:cNvSpPr>
            <a:spLocks noGrp="1"/>
          </p:cNvSpPr>
          <p:nvPr/>
        </p:nvSpPr>
        <p:spPr>
          <a:xfrm>
            <a:off x="8743950" y="4943475"/>
            <a:ext cx="723900" cy="38100"/>
          </a:xfrm>
          <a:prstGeom prst="rect">
            <a:avLst/>
          </a:prstGeom>
          <a:solidFill>
            <a:srgbClr val="DBE4EF"/>
          </a:solidFill>
          <a:ln w="0">
            <a:solidFill>
              <a:srgbClr val="DBE4EF"/>
            </a:solidFill>
            <a:prstDash val="solid"/>
          </a:ln>
        </p:spPr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83C25D41-8534-42A0-87FC-4C67B6DC7F10}"/>
              </a:ext>
            </a:extLst>
          </p:cNvPr>
          <p:cNvSpPr>
            <a:spLocks noGrp="1"/>
          </p:cNvSpPr>
          <p:nvPr/>
        </p:nvSpPr>
        <p:spPr>
          <a:xfrm>
            <a:off x="9410700" y="4876800"/>
            <a:ext cx="171450" cy="171450"/>
          </a:xfrm>
          <a:prstGeom prst="rect">
            <a:avLst/>
          </a:prstGeom>
          <a:solidFill>
            <a:srgbClr val="DBE4EF"/>
          </a:solidFill>
          <a:ln w="0">
            <a:solidFill>
              <a:srgbClr val="DBE4EF"/>
            </a:solidFill>
            <a:prstDash val="solid"/>
          </a:ln>
        </p:spPr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77690159-6AF9-4BBC-8C04-A88CEB726E8E}"/>
              </a:ext>
            </a:extLst>
          </p:cNvPr>
          <p:cNvSpPr>
            <a:spLocks noGrp="1"/>
          </p:cNvSpPr>
          <p:nvPr/>
        </p:nvSpPr>
        <p:spPr>
          <a:xfrm>
            <a:off x="9639300" y="4429125"/>
            <a:ext cx="1952625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B393F9F0-7680-4E19-822B-1120872965D2}"/>
              </a:ext>
            </a:extLst>
          </p:cNvPr>
          <p:cNvSpPr>
            <a:spLocks noGrp="1"/>
          </p:cNvSpPr>
          <p:nvPr/>
        </p:nvSpPr>
        <p:spPr>
          <a:xfrm>
            <a:off x="9810750" y="4619625"/>
            <a:ext cx="266700" cy="266700"/>
          </a:xfrm>
          <a:prstGeom prst="rect">
            <a:avLst/>
          </a:prstGeom>
          <a:solidFill>
            <a:srgbClr val="123B91"/>
          </a:solidFill>
          <a:ln w="0">
            <a:solidFill>
              <a:srgbClr val="123B91"/>
            </a:solidFill>
            <a:prstDash val="solid"/>
          </a:ln>
        </p:spPr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43E30AF7-F58B-497A-899E-7CD1E42EE29B}"/>
              </a:ext>
            </a:extLst>
          </p:cNvPr>
          <p:cNvSpPr>
            <a:spLocks noGrp="1"/>
          </p:cNvSpPr>
          <p:nvPr/>
        </p:nvSpPr>
        <p:spPr>
          <a:xfrm>
            <a:off x="10191750" y="4600575"/>
            <a:ext cx="1228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Histórico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FEEDF8FA-3CFF-495E-AB1F-3B41BD15C9F4}"/>
              </a:ext>
            </a:extLst>
          </p:cNvPr>
          <p:cNvSpPr>
            <a:spLocks noGrp="1"/>
          </p:cNvSpPr>
          <p:nvPr/>
        </p:nvSpPr>
        <p:spPr>
          <a:xfrm>
            <a:off x="9829800" y="4981575"/>
            <a:ext cx="1571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Consulta organizada por veículo.</a:t>
            </a:r>
          </a:p>
        </p:txBody>
      </p:sp>
    </p:spTree>
    <p:extLst>
      <p:ext uri="{BB962C8B-B14F-4D97-AF65-F5344CB8AC3E}">
        <p14:creationId xmlns:p14="http://schemas.microsoft.com/office/powerpoint/2010/main" val="1202659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 36">
            <a:extLst>
              <a:ext uri="{FF2B5EF4-FFF2-40B4-BE49-F238E27FC236}">
                <a16:creationId xmlns:a16="http://schemas.microsoft.com/office/drawing/2014/main" id="{D6739FE9-F744-4078-929F-06F2FE1FCC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BD55E14-300D-4673-A823-70C192055D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8E65974-E8A0-4288-9EB9-1F9106736D3E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MakerCar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A670E6F-E748-4F3A-B623-DA539CF23D02}"/>
              </a:ext>
            </a:extLst>
          </p:cNvPr>
          <p:cNvSpPr>
            <a:spLocks noGrp="1"/>
          </p:cNvSpPr>
          <p:nvPr/>
        </p:nvSpPr>
        <p:spPr>
          <a:xfrm>
            <a:off x="9858375" y="2857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Frota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E6C8165-2F14-4F13-9A4C-7389768F6177}"/>
              </a:ext>
            </a:extLst>
          </p:cNvPr>
          <p:cNvSpPr>
            <a:spLocks noGrp="1"/>
          </p:cNvSpPr>
          <p:nvPr/>
        </p:nvSpPr>
        <p:spPr>
          <a:xfrm>
            <a:off x="514350" y="742950"/>
            <a:ext cx="7239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 frota foi filtrada para os veículos que rodam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36AAABF-DEA6-4A38-B249-ABC917B73668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715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lista operacional ficou objetiva, evitando carros fora do fluxo diário.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13A31BD-29EA-4A14-A28B-918C06056D1D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4286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9F88EFF-5351-42EA-9251-DC44FC2B10B4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838200" cy="495300"/>
          </a:xfrm>
          <a:prstGeom prst="rect">
            <a:avLst/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AAAFD0-0645-4238-9314-A29E5071E163}"/>
              </a:ext>
            </a:extLst>
          </p:cNvPr>
          <p:cNvSpPr>
            <a:spLocks noGrp="1"/>
          </p:cNvSpPr>
          <p:nvPr/>
        </p:nvSpPr>
        <p:spPr>
          <a:xfrm>
            <a:off x="1085850" y="256222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BKA3F78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C4ECB3C-DB66-42BE-93FE-AA9C0F0FDBBE}"/>
              </a:ext>
            </a:extLst>
          </p:cNvPr>
          <p:cNvSpPr>
            <a:spLocks noGrp="1"/>
          </p:cNvSpPr>
          <p:nvPr/>
        </p:nvSpPr>
        <p:spPr>
          <a:xfrm>
            <a:off x="2076450" y="24193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BKA3F78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540E407-A05D-4B6D-97DA-8DAD4DAFF6AF}"/>
              </a:ext>
            </a:extLst>
          </p:cNvPr>
          <p:cNvSpPr>
            <a:spLocks noGrp="1"/>
          </p:cNvSpPr>
          <p:nvPr/>
        </p:nvSpPr>
        <p:spPr>
          <a:xfrm>
            <a:off x="2076450" y="27432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Renault Kwid Branco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671A321-181E-45EB-9DD0-09C298B1ADD7}"/>
              </a:ext>
            </a:extLst>
          </p:cNvPr>
          <p:cNvSpPr>
            <a:spLocks noGrp="1"/>
          </p:cNvSpPr>
          <p:nvPr/>
        </p:nvSpPr>
        <p:spPr>
          <a:xfrm>
            <a:off x="3790950" y="2438400"/>
            <a:ext cx="1104900" cy="285750"/>
          </a:xfrm>
          <a:prstGeom prst="rect">
            <a:avLst/>
          </a:prstGeom>
          <a:solidFill>
            <a:srgbClr val="D1FA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B2AC9D1-177A-4A1F-90BF-15C8C733373C}"/>
              </a:ext>
            </a:extLst>
          </p:cNvPr>
          <p:cNvSpPr>
            <a:spLocks noGrp="1"/>
          </p:cNvSpPr>
          <p:nvPr/>
        </p:nvSpPr>
        <p:spPr>
          <a:xfrm>
            <a:off x="3924300" y="2505075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Ativo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CB36151-26EC-4FF5-985A-E84A06C767AA}"/>
              </a:ext>
            </a:extLst>
          </p:cNvPr>
          <p:cNvSpPr>
            <a:spLocks noGrp="1"/>
          </p:cNvSpPr>
          <p:nvPr/>
        </p:nvSpPr>
        <p:spPr>
          <a:xfrm>
            <a:off x="5734050" y="2190750"/>
            <a:ext cx="4286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307FED1-C8C6-4726-8423-96FA40DF73CC}"/>
              </a:ext>
            </a:extLst>
          </p:cNvPr>
          <p:cNvSpPr>
            <a:spLocks noGrp="1"/>
          </p:cNvSpPr>
          <p:nvPr/>
        </p:nvSpPr>
        <p:spPr>
          <a:xfrm>
            <a:off x="5962650" y="2400300"/>
            <a:ext cx="838200" cy="495300"/>
          </a:xfrm>
          <a:prstGeom prst="rect">
            <a:avLst/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AA9E583-09CA-43F1-9B01-3A24AA097534}"/>
              </a:ext>
            </a:extLst>
          </p:cNvPr>
          <p:cNvSpPr>
            <a:spLocks noGrp="1"/>
          </p:cNvSpPr>
          <p:nvPr/>
        </p:nvSpPr>
        <p:spPr>
          <a:xfrm>
            <a:off x="6038850" y="256222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GAV6H84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644DA62-263C-4072-B23F-0AA4A6944508}"/>
              </a:ext>
            </a:extLst>
          </p:cNvPr>
          <p:cNvSpPr>
            <a:spLocks noGrp="1"/>
          </p:cNvSpPr>
          <p:nvPr/>
        </p:nvSpPr>
        <p:spPr>
          <a:xfrm>
            <a:off x="7029450" y="24193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GAV6H84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94EF23F-6FC4-4289-8BB1-F51F53807658}"/>
              </a:ext>
            </a:extLst>
          </p:cNvPr>
          <p:cNvSpPr>
            <a:spLocks noGrp="1"/>
          </p:cNvSpPr>
          <p:nvPr/>
        </p:nvSpPr>
        <p:spPr>
          <a:xfrm>
            <a:off x="7029450" y="27432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Veículo operacional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B85C817-A0DC-4C14-B581-E65ED4E082E0}"/>
              </a:ext>
            </a:extLst>
          </p:cNvPr>
          <p:cNvSpPr>
            <a:spLocks noGrp="1"/>
          </p:cNvSpPr>
          <p:nvPr/>
        </p:nvSpPr>
        <p:spPr>
          <a:xfrm>
            <a:off x="8743950" y="2438400"/>
            <a:ext cx="1104900" cy="285750"/>
          </a:xfrm>
          <a:prstGeom prst="rect">
            <a:avLst/>
          </a:prstGeom>
          <a:solidFill>
            <a:srgbClr val="D1FA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D488C64-EC74-4EF1-835A-CD9C47BC0BF5}"/>
              </a:ext>
            </a:extLst>
          </p:cNvPr>
          <p:cNvSpPr>
            <a:spLocks noGrp="1"/>
          </p:cNvSpPr>
          <p:nvPr/>
        </p:nvSpPr>
        <p:spPr>
          <a:xfrm>
            <a:off x="8877300" y="2505075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Ativo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3B1310D-EB7E-4A29-9F29-8A7ECF979534}"/>
              </a:ext>
            </a:extLst>
          </p:cNvPr>
          <p:cNvSpPr>
            <a:spLocks noGrp="1"/>
          </p:cNvSpPr>
          <p:nvPr/>
        </p:nvSpPr>
        <p:spPr>
          <a:xfrm>
            <a:off x="781050" y="3667125"/>
            <a:ext cx="4286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025C59D-A775-4EE7-BF68-F816962BB307}"/>
              </a:ext>
            </a:extLst>
          </p:cNvPr>
          <p:cNvSpPr>
            <a:spLocks noGrp="1"/>
          </p:cNvSpPr>
          <p:nvPr/>
        </p:nvSpPr>
        <p:spPr>
          <a:xfrm>
            <a:off x="1009650" y="3876675"/>
            <a:ext cx="838200" cy="495300"/>
          </a:xfrm>
          <a:prstGeom prst="rect">
            <a:avLst/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B2ACCFA-AFBF-4516-B23E-9A411197E0FD}"/>
              </a:ext>
            </a:extLst>
          </p:cNvPr>
          <p:cNvSpPr>
            <a:spLocks noGrp="1"/>
          </p:cNvSpPr>
          <p:nvPr/>
        </p:nvSpPr>
        <p:spPr>
          <a:xfrm>
            <a:off x="1085850" y="40386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GEL8E37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472E6A8-7232-46F7-8436-B68577EC1D87}"/>
              </a:ext>
            </a:extLst>
          </p:cNvPr>
          <p:cNvSpPr>
            <a:spLocks noGrp="1"/>
          </p:cNvSpPr>
          <p:nvPr/>
        </p:nvSpPr>
        <p:spPr>
          <a:xfrm>
            <a:off x="2076450" y="3895725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GEL8E37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15C59F0-E5A7-4143-B5B3-711956A0CF94}"/>
              </a:ext>
            </a:extLst>
          </p:cNvPr>
          <p:cNvSpPr>
            <a:spLocks noGrp="1"/>
          </p:cNvSpPr>
          <p:nvPr/>
        </p:nvSpPr>
        <p:spPr>
          <a:xfrm>
            <a:off x="2076450" y="4219575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Veículo operacional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0667047-18E4-40CA-8E05-E9B77CCDDBCB}"/>
              </a:ext>
            </a:extLst>
          </p:cNvPr>
          <p:cNvSpPr>
            <a:spLocks noGrp="1"/>
          </p:cNvSpPr>
          <p:nvPr/>
        </p:nvSpPr>
        <p:spPr>
          <a:xfrm>
            <a:off x="3790950" y="3914775"/>
            <a:ext cx="1104900" cy="285750"/>
          </a:xfrm>
          <a:prstGeom prst="rect">
            <a:avLst/>
          </a:prstGeom>
          <a:solidFill>
            <a:srgbClr val="D1FA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668C622-E2BE-413F-998E-266BBE3013E6}"/>
              </a:ext>
            </a:extLst>
          </p:cNvPr>
          <p:cNvSpPr>
            <a:spLocks noGrp="1"/>
          </p:cNvSpPr>
          <p:nvPr/>
        </p:nvSpPr>
        <p:spPr>
          <a:xfrm>
            <a:off x="3924300" y="3981450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Ativo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A86B1C92-E70C-41D7-BFF8-ECE81639277A}"/>
              </a:ext>
            </a:extLst>
          </p:cNvPr>
          <p:cNvSpPr>
            <a:spLocks noGrp="1"/>
          </p:cNvSpPr>
          <p:nvPr/>
        </p:nvSpPr>
        <p:spPr>
          <a:xfrm>
            <a:off x="5734050" y="3667125"/>
            <a:ext cx="4286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2F3B2983-054E-41EF-865D-4329EFE90877}"/>
              </a:ext>
            </a:extLst>
          </p:cNvPr>
          <p:cNvSpPr>
            <a:spLocks noGrp="1"/>
          </p:cNvSpPr>
          <p:nvPr/>
        </p:nvSpPr>
        <p:spPr>
          <a:xfrm>
            <a:off x="5962650" y="3876675"/>
            <a:ext cx="838200" cy="495300"/>
          </a:xfrm>
          <a:prstGeom prst="rect">
            <a:avLst/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FE3949C-C618-4D4E-AFED-6073729A87DE}"/>
              </a:ext>
            </a:extLst>
          </p:cNvPr>
          <p:cNvSpPr>
            <a:spLocks noGrp="1"/>
          </p:cNvSpPr>
          <p:nvPr/>
        </p:nvSpPr>
        <p:spPr>
          <a:xfrm>
            <a:off x="6038850" y="40386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RBW5D42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E502B8BB-8E54-4AAA-B5AB-A29B571257F8}"/>
              </a:ext>
            </a:extLst>
          </p:cNvPr>
          <p:cNvSpPr>
            <a:spLocks noGrp="1"/>
          </p:cNvSpPr>
          <p:nvPr/>
        </p:nvSpPr>
        <p:spPr>
          <a:xfrm>
            <a:off x="7029450" y="3895725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RBW5D42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92E2C811-5A81-4058-9986-4E6F5ABFD25C}"/>
              </a:ext>
            </a:extLst>
          </p:cNvPr>
          <p:cNvSpPr>
            <a:spLocks noGrp="1"/>
          </p:cNvSpPr>
          <p:nvPr/>
        </p:nvSpPr>
        <p:spPr>
          <a:xfrm>
            <a:off x="7029450" y="4219575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Veículo operacional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0747BD28-9F83-4555-91D5-9308FE1BD0B0}"/>
              </a:ext>
            </a:extLst>
          </p:cNvPr>
          <p:cNvSpPr>
            <a:spLocks noGrp="1"/>
          </p:cNvSpPr>
          <p:nvPr/>
        </p:nvSpPr>
        <p:spPr>
          <a:xfrm>
            <a:off x="8743950" y="3914775"/>
            <a:ext cx="1104900" cy="285750"/>
          </a:xfrm>
          <a:prstGeom prst="rect">
            <a:avLst/>
          </a:prstGeom>
          <a:solidFill>
            <a:srgbClr val="D1FA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106C886-D380-4AA5-ADCA-0DF66B3AAC37}"/>
              </a:ext>
            </a:extLst>
          </p:cNvPr>
          <p:cNvSpPr>
            <a:spLocks noGrp="1"/>
          </p:cNvSpPr>
          <p:nvPr/>
        </p:nvSpPr>
        <p:spPr>
          <a:xfrm>
            <a:off x="8877300" y="3981450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Ativo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1A999ED0-9EBA-4993-878E-4873CB28AFA8}"/>
              </a:ext>
            </a:extLst>
          </p:cNvPr>
          <p:cNvSpPr>
            <a:spLocks noGrp="1"/>
          </p:cNvSpPr>
          <p:nvPr/>
        </p:nvSpPr>
        <p:spPr>
          <a:xfrm>
            <a:off x="819150" y="5286375"/>
            <a:ext cx="9620250" cy="666750"/>
          </a:xfrm>
          <a:prstGeom prst="rect">
            <a:avLst/>
          </a:prstGeom>
          <a:solidFill>
            <a:srgbClr val="EFF6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92B0286-858D-4D36-956E-D32467D69297}"/>
              </a:ext>
            </a:extLst>
          </p:cNvPr>
          <p:cNvSpPr>
            <a:spLocks noGrp="1"/>
          </p:cNvSpPr>
          <p:nvPr/>
        </p:nvSpPr>
        <p:spPr>
          <a:xfrm>
            <a:off x="1104900" y="5486400"/>
            <a:ext cx="857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Resultado: telas e seletores passam a refletir apenas os veículos usados na operação de viagem.</a:t>
            </a:r>
          </a:p>
        </p:txBody>
      </p:sp>
    </p:spTree>
    <p:extLst>
      <p:ext uri="{BB962C8B-B14F-4D97-AF65-F5344CB8AC3E}">
        <p14:creationId xmlns:p14="http://schemas.microsoft.com/office/powerpoint/2010/main" val="1815403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 36">
            <a:extLst>
              <a:ext uri="{FF2B5EF4-FFF2-40B4-BE49-F238E27FC236}">
                <a16:creationId xmlns:a16="http://schemas.microsoft.com/office/drawing/2014/main" id="{E2C601BC-5639-4BE7-9512-2E119EC69F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4ECD977-DEA9-41D9-91AE-7B8A6A5448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14C2815-C482-42B5-9E9B-F115440EA5DF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MakerCar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4C038C0-6332-4F0A-9B63-D071A5FC232F}"/>
              </a:ext>
            </a:extLst>
          </p:cNvPr>
          <p:cNvSpPr>
            <a:spLocks noGrp="1"/>
          </p:cNvSpPr>
          <p:nvPr/>
        </p:nvSpPr>
        <p:spPr>
          <a:xfrm>
            <a:off x="9858375" y="2857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Retirada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7E98D80-B316-4AC8-B653-BF3B69702BD6}"/>
              </a:ext>
            </a:extLst>
          </p:cNvPr>
          <p:cNvSpPr>
            <a:spLocks noGrp="1"/>
          </p:cNvSpPr>
          <p:nvPr/>
        </p:nvSpPr>
        <p:spPr>
          <a:xfrm>
            <a:off x="514350" y="742950"/>
            <a:ext cx="7239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Checklist de retirada documenta o estado inicial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93E437F-E6A9-40CF-A8B4-5D0B9AD7C061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715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Antes do uso, o sistema passa a registrar KM, fotos, itens obrigatórios e observações.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CB142FD-418D-412C-8FD2-E541FEF54B03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647700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129A619-BD17-4CA4-9777-2142EB1920BD}"/>
              </a:ext>
            </a:extLst>
          </p:cNvPr>
          <p:cNvSpPr>
            <a:spLocks noGrp="1"/>
          </p:cNvSpPr>
          <p:nvPr/>
        </p:nvSpPr>
        <p:spPr>
          <a:xfrm>
            <a:off x="876300" y="2238375"/>
            <a:ext cx="381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Itens incluídos na retirada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7637982-A7E7-4DCF-ACBD-82A4700D1DA0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17C837C-4305-4FC6-8571-32F111406F4E}"/>
              </a:ext>
            </a:extLst>
          </p:cNvPr>
          <p:cNvSpPr>
            <a:spLocks noGrp="1"/>
          </p:cNvSpPr>
          <p:nvPr/>
        </p:nvSpPr>
        <p:spPr>
          <a:xfrm>
            <a:off x="1257300" y="274320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KM na retirada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1F8E58C-B364-48B4-8603-DDA4F89F9AF3}"/>
              </a:ext>
            </a:extLst>
          </p:cNvPr>
          <p:cNvSpPr>
            <a:spLocks noGrp="1"/>
          </p:cNvSpPr>
          <p:nvPr/>
        </p:nvSpPr>
        <p:spPr>
          <a:xfrm>
            <a:off x="3905250" y="277177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EDBA06C-6BA8-48CD-8851-B98A6855FA3F}"/>
              </a:ext>
            </a:extLst>
          </p:cNvPr>
          <p:cNvSpPr>
            <a:spLocks noGrp="1"/>
          </p:cNvSpPr>
          <p:nvPr/>
        </p:nvSpPr>
        <p:spPr>
          <a:xfrm>
            <a:off x="4248150" y="274320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Foto frontal, traseira e laterais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A9789E1-E8A6-4E7C-B2AC-991E0CB7850F}"/>
              </a:ext>
            </a:extLst>
          </p:cNvPr>
          <p:cNvSpPr>
            <a:spLocks noGrp="1"/>
          </p:cNvSpPr>
          <p:nvPr/>
        </p:nvSpPr>
        <p:spPr>
          <a:xfrm>
            <a:off x="914400" y="313372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B78668C-5A8B-4FD5-BC8F-6A03F93819E4}"/>
              </a:ext>
            </a:extLst>
          </p:cNvPr>
          <p:cNvSpPr>
            <a:spLocks noGrp="1"/>
          </p:cNvSpPr>
          <p:nvPr/>
        </p:nvSpPr>
        <p:spPr>
          <a:xfrm>
            <a:off x="1257300" y="310515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Estepe em boas condições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87825AE-D232-4DBF-A3A7-98579490E2E1}"/>
              </a:ext>
            </a:extLst>
          </p:cNvPr>
          <p:cNvSpPr>
            <a:spLocks noGrp="1"/>
          </p:cNvSpPr>
          <p:nvPr/>
        </p:nvSpPr>
        <p:spPr>
          <a:xfrm>
            <a:off x="3905250" y="313372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3420047-B5B3-4A3D-9D9C-ECFDE6A8C90C}"/>
              </a:ext>
            </a:extLst>
          </p:cNvPr>
          <p:cNvSpPr>
            <a:spLocks noGrp="1"/>
          </p:cNvSpPr>
          <p:nvPr/>
        </p:nvSpPr>
        <p:spPr>
          <a:xfrm>
            <a:off x="4248150" y="310515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Chave de roda, macaco e triângulo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9C91F5C-98E1-4D00-A888-D54B392FBDC7}"/>
              </a:ext>
            </a:extLst>
          </p:cNvPr>
          <p:cNvSpPr>
            <a:spLocks noGrp="1"/>
          </p:cNvSpPr>
          <p:nvPr/>
        </p:nvSpPr>
        <p:spPr>
          <a:xfrm>
            <a:off x="914400" y="349567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563EA8C-1CE0-44FC-9F93-F1642D52948D}"/>
              </a:ext>
            </a:extLst>
          </p:cNvPr>
          <p:cNvSpPr>
            <a:spLocks noGrp="1"/>
          </p:cNvSpPr>
          <p:nvPr/>
        </p:nvSpPr>
        <p:spPr>
          <a:xfrm>
            <a:off x="1257300" y="346710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Nível de combustível conferido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57091B7-E245-4BEE-890C-9A03716F4969}"/>
              </a:ext>
            </a:extLst>
          </p:cNvPr>
          <p:cNvSpPr>
            <a:spLocks noGrp="1"/>
          </p:cNvSpPr>
          <p:nvPr/>
        </p:nvSpPr>
        <p:spPr>
          <a:xfrm>
            <a:off x="3905250" y="349567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A11EB4B-95EA-4C74-90CB-4C9EE11AAA87}"/>
              </a:ext>
            </a:extLst>
          </p:cNvPr>
          <p:cNvSpPr>
            <a:spLocks noGrp="1"/>
          </p:cNvSpPr>
          <p:nvPr/>
        </p:nvSpPr>
        <p:spPr>
          <a:xfrm>
            <a:off x="4248150" y="346710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Veículo limpo e sem avarias aparentes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BAEB25B-ECE7-4B83-A015-EB59CCAFB379}"/>
              </a:ext>
            </a:extLst>
          </p:cNvPr>
          <p:cNvSpPr>
            <a:spLocks noGrp="1"/>
          </p:cNvSpPr>
          <p:nvPr/>
        </p:nvSpPr>
        <p:spPr>
          <a:xfrm>
            <a:off x="914400" y="385762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FCCF29D-4D34-4411-8A60-B9BD0BAC4A27}"/>
              </a:ext>
            </a:extLst>
          </p:cNvPr>
          <p:cNvSpPr>
            <a:spLocks noGrp="1"/>
          </p:cNvSpPr>
          <p:nvPr/>
        </p:nvSpPr>
        <p:spPr>
          <a:xfrm>
            <a:off x="1257300" y="382905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Documentação</a:t>
            </a:r>
            <a:r>
              <a:rPr sz="105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presente</a:t>
            </a:r>
            <a:endParaRPr sz="1050" b="0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0BF5E04-9C2B-4D44-90E6-EDA523773129}"/>
              </a:ext>
            </a:extLst>
          </p:cNvPr>
          <p:cNvSpPr>
            <a:spLocks noGrp="1"/>
          </p:cNvSpPr>
          <p:nvPr/>
        </p:nvSpPr>
        <p:spPr>
          <a:xfrm>
            <a:off x="3905250" y="385762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8CE6D6E-D510-4854-851C-AA28D5A5D9BA}"/>
              </a:ext>
            </a:extLst>
          </p:cNvPr>
          <p:cNvSpPr>
            <a:spLocks noGrp="1"/>
          </p:cNvSpPr>
          <p:nvPr/>
        </p:nvSpPr>
        <p:spPr>
          <a:xfrm>
            <a:off x="4248150" y="382905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Pneus, faróis e lanternas verificados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4FD2BD6-4872-4BD6-AE1D-AB2CB53DCA2E}"/>
              </a:ext>
            </a:extLst>
          </p:cNvPr>
          <p:cNvSpPr>
            <a:spLocks noGrp="1"/>
          </p:cNvSpPr>
          <p:nvPr/>
        </p:nvSpPr>
        <p:spPr>
          <a:xfrm>
            <a:off x="914400" y="421957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488A61B-467B-4B50-94B2-C1B5E1D3FBCF}"/>
              </a:ext>
            </a:extLst>
          </p:cNvPr>
          <p:cNvSpPr>
            <a:spLocks noGrp="1"/>
          </p:cNvSpPr>
          <p:nvPr/>
        </p:nvSpPr>
        <p:spPr>
          <a:xfrm>
            <a:off x="1257300" y="419100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Sem luzes de alerta no painel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76CB4CB-C0BE-413D-9501-760D350961C3}"/>
              </a:ext>
            </a:extLst>
          </p:cNvPr>
          <p:cNvSpPr>
            <a:spLocks noGrp="1"/>
          </p:cNvSpPr>
          <p:nvPr/>
        </p:nvSpPr>
        <p:spPr>
          <a:xfrm>
            <a:off x="3905250" y="421957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6A271E0-B1F0-4922-A1D5-FF0B62F076DB}"/>
              </a:ext>
            </a:extLst>
          </p:cNvPr>
          <p:cNvSpPr>
            <a:spLocks noGrp="1"/>
          </p:cNvSpPr>
          <p:nvPr/>
        </p:nvSpPr>
        <p:spPr>
          <a:xfrm>
            <a:off x="4248150" y="4191000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Campo de observações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789D864-5500-493A-8DEB-9226B7F2C645}"/>
              </a:ext>
            </a:extLst>
          </p:cNvPr>
          <p:cNvSpPr>
            <a:spLocks noGrp="1"/>
          </p:cNvSpPr>
          <p:nvPr/>
        </p:nvSpPr>
        <p:spPr>
          <a:xfrm>
            <a:off x="7524750" y="2305050"/>
            <a:ext cx="3238500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531AA89-7074-49DE-90B4-052DB0AAF32C}"/>
              </a:ext>
            </a:extLst>
          </p:cNvPr>
          <p:cNvSpPr>
            <a:spLocks noGrp="1"/>
          </p:cNvSpPr>
          <p:nvPr/>
        </p:nvSpPr>
        <p:spPr>
          <a:xfrm>
            <a:off x="7810500" y="259080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Observações úteis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F810653A-6588-4EB5-AE1A-C8CE661523F9}"/>
              </a:ext>
            </a:extLst>
          </p:cNvPr>
          <p:cNvSpPr>
            <a:spLocks noGrp="1"/>
          </p:cNvSpPr>
          <p:nvPr/>
        </p:nvSpPr>
        <p:spPr>
          <a:xfrm>
            <a:off x="7848600" y="3219450"/>
            <a:ext cx="85725" cy="857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B39608E7-A8B6-4384-AF2A-9F5B791F0152}"/>
              </a:ext>
            </a:extLst>
          </p:cNvPr>
          <p:cNvSpPr>
            <a:spLocks noGrp="1"/>
          </p:cNvSpPr>
          <p:nvPr/>
        </p:nvSpPr>
        <p:spPr>
          <a:xfrm>
            <a:off x="8039100" y="3143250"/>
            <a:ext cx="4095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Banco rasgado, riscos ou amassados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8499900-56EA-4D0A-934C-A3B7E5536881}"/>
              </a:ext>
            </a:extLst>
          </p:cNvPr>
          <p:cNvSpPr>
            <a:spLocks noGrp="1"/>
          </p:cNvSpPr>
          <p:nvPr/>
        </p:nvSpPr>
        <p:spPr>
          <a:xfrm>
            <a:off x="7848600" y="3743325"/>
            <a:ext cx="85725" cy="85725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511DFDC-CF1C-4294-AD57-292A5EF9264E}"/>
              </a:ext>
            </a:extLst>
          </p:cNvPr>
          <p:cNvSpPr>
            <a:spLocks noGrp="1"/>
          </p:cNvSpPr>
          <p:nvPr/>
        </p:nvSpPr>
        <p:spPr>
          <a:xfrm>
            <a:off x="8039100" y="3667125"/>
            <a:ext cx="4095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Falta de combustível ou pneu danificado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7CAABB35-9A85-43E2-90FE-A6103B6ECC61}"/>
              </a:ext>
            </a:extLst>
          </p:cNvPr>
          <p:cNvSpPr>
            <a:spLocks noGrp="1"/>
          </p:cNvSpPr>
          <p:nvPr/>
        </p:nvSpPr>
        <p:spPr>
          <a:xfrm>
            <a:off x="7848600" y="4267200"/>
            <a:ext cx="85725" cy="85725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3FEA7C77-70AF-4DDE-92A1-71575820FC7A}"/>
              </a:ext>
            </a:extLst>
          </p:cNvPr>
          <p:cNvSpPr>
            <a:spLocks noGrp="1"/>
          </p:cNvSpPr>
          <p:nvPr/>
        </p:nvSpPr>
        <p:spPr>
          <a:xfrm>
            <a:off x="8039100" y="4191000"/>
            <a:ext cx="4095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Equipamentos faltando ou alerta no painel</a:t>
            </a:r>
          </a:p>
        </p:txBody>
      </p:sp>
    </p:spTree>
    <p:extLst>
      <p:ext uri="{BB962C8B-B14F-4D97-AF65-F5344CB8AC3E}">
        <p14:creationId xmlns:p14="http://schemas.microsoft.com/office/powerpoint/2010/main" val="964339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7E4D87F3-C500-4CCA-8456-FF249162B8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F83B734-A636-4757-AEE7-4B1C7A2785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4CA1AAB-A450-4199-B447-3AEF2091F827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MakerCar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495D80E-5F4B-47BB-8AB8-DBBE8B3634CF}"/>
              </a:ext>
            </a:extLst>
          </p:cNvPr>
          <p:cNvSpPr>
            <a:spLocks noGrp="1"/>
          </p:cNvSpPr>
          <p:nvPr/>
        </p:nvSpPr>
        <p:spPr>
          <a:xfrm>
            <a:off x="9858375" y="2857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Devolução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971600E-F2AE-4607-938B-6D9CE32899F8}"/>
              </a:ext>
            </a:extLst>
          </p:cNvPr>
          <p:cNvSpPr>
            <a:spLocks noGrp="1"/>
          </p:cNvSpPr>
          <p:nvPr/>
        </p:nvSpPr>
        <p:spPr>
          <a:xfrm>
            <a:off x="514350" y="742950"/>
            <a:ext cx="7239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Checklist de devolução fecha o ciclo com evidências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862D54D-55D4-4F93-8C46-A05E370D9AC9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715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Na </a:t>
            </a:r>
            <a:r>
              <a:rPr sz="1275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entrega</a:t>
            </a:r>
            <a:r>
              <a:rPr sz="12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do </a:t>
            </a:r>
            <a:r>
              <a:rPr sz="1275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veículo</a:t>
            </a:r>
            <a:r>
              <a:rPr sz="12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, a </a:t>
            </a:r>
            <a:r>
              <a:rPr sz="1275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conferência</a:t>
            </a:r>
            <a:r>
              <a:rPr sz="12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compara</a:t>
            </a:r>
            <a:r>
              <a:rPr sz="12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KM, </a:t>
            </a:r>
            <a:r>
              <a:rPr sz="1275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combustível</a:t>
            </a:r>
            <a:r>
              <a:rPr sz="12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, </a:t>
            </a:r>
            <a:r>
              <a:rPr sz="1275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itens</a:t>
            </a:r>
            <a:r>
              <a:rPr sz="12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, </a:t>
            </a:r>
            <a:r>
              <a:rPr sz="1275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avarias</a:t>
            </a:r>
            <a:r>
              <a:rPr sz="12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e </a:t>
            </a:r>
            <a:r>
              <a:rPr sz="1275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ocorrências</a:t>
            </a:r>
            <a:r>
              <a:rPr sz="127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848F696-57C7-481F-BD16-71B04E2C2E13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575310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B6E9F77-0E9C-4CBD-BAF5-A80160042C8A}"/>
              </a:ext>
            </a:extLst>
          </p:cNvPr>
          <p:cNvSpPr>
            <a:spLocks noGrp="1"/>
          </p:cNvSpPr>
          <p:nvPr/>
        </p:nvSpPr>
        <p:spPr>
          <a:xfrm>
            <a:off x="895350" y="2190750"/>
            <a:ext cx="3333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Conferência final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F2F2DDC-0BDB-4956-9602-573ACD2A25D6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3B497C2-D2DC-42AE-828C-B4BBE5948D56}"/>
              </a:ext>
            </a:extLst>
          </p:cNvPr>
          <p:cNvSpPr>
            <a:spLocks noGrp="1"/>
          </p:cNvSpPr>
          <p:nvPr/>
        </p:nvSpPr>
        <p:spPr>
          <a:xfrm>
            <a:off x="1257300" y="2686050"/>
            <a:ext cx="4705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KM na devolução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BC0AA52-BDE1-4E01-BE79-6E459B10DFF4}"/>
              </a:ext>
            </a:extLst>
          </p:cNvPr>
          <p:cNvSpPr>
            <a:spLocks noGrp="1"/>
          </p:cNvSpPr>
          <p:nvPr/>
        </p:nvSpPr>
        <p:spPr>
          <a:xfrm>
            <a:off x="914400" y="307657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3F7AF90-6C2F-4299-A920-1690D6B1799D}"/>
              </a:ext>
            </a:extLst>
          </p:cNvPr>
          <p:cNvSpPr>
            <a:spLocks noGrp="1"/>
          </p:cNvSpPr>
          <p:nvPr/>
        </p:nvSpPr>
        <p:spPr>
          <a:xfrm>
            <a:off x="1257300" y="3048000"/>
            <a:ext cx="4705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Fotos do veículo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54E7E08-A968-4085-BF11-09A3E5FB897F}"/>
              </a:ext>
            </a:extLst>
          </p:cNvPr>
          <p:cNvSpPr>
            <a:spLocks noGrp="1"/>
          </p:cNvSpPr>
          <p:nvPr/>
        </p:nvSpPr>
        <p:spPr>
          <a:xfrm>
            <a:off x="914400" y="343852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05C12D4-0A92-46AA-939C-F3EF2728EFC1}"/>
              </a:ext>
            </a:extLst>
          </p:cNvPr>
          <p:cNvSpPr>
            <a:spLocks noGrp="1"/>
          </p:cNvSpPr>
          <p:nvPr/>
        </p:nvSpPr>
        <p:spPr>
          <a:xfrm>
            <a:off x="1257300" y="3409950"/>
            <a:ext cx="4705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Nível de combustível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744D76D-BD3C-40C3-93AF-576DB40AAF08}"/>
              </a:ext>
            </a:extLst>
          </p:cNvPr>
          <p:cNvSpPr>
            <a:spLocks noGrp="1"/>
          </p:cNvSpPr>
          <p:nvPr/>
        </p:nvSpPr>
        <p:spPr>
          <a:xfrm>
            <a:off x="914400" y="380047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4650DA9-1A20-43FA-B2BB-BB1AAFB48952}"/>
              </a:ext>
            </a:extLst>
          </p:cNvPr>
          <p:cNvSpPr>
            <a:spLocks noGrp="1"/>
          </p:cNvSpPr>
          <p:nvPr/>
        </p:nvSpPr>
        <p:spPr>
          <a:xfrm>
            <a:off x="1257300" y="3771900"/>
            <a:ext cx="4705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Estepe, chave de roda, macaco e triângulo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84C0434-751F-495C-AEF5-6AFF7F99961D}"/>
              </a:ext>
            </a:extLst>
          </p:cNvPr>
          <p:cNvSpPr>
            <a:spLocks noGrp="1"/>
          </p:cNvSpPr>
          <p:nvPr/>
        </p:nvSpPr>
        <p:spPr>
          <a:xfrm>
            <a:off x="914400" y="416242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F555D70-CD5A-4454-BAC9-F1DB4599041D}"/>
              </a:ext>
            </a:extLst>
          </p:cNvPr>
          <p:cNvSpPr>
            <a:spLocks noGrp="1"/>
          </p:cNvSpPr>
          <p:nvPr/>
        </p:nvSpPr>
        <p:spPr>
          <a:xfrm>
            <a:off x="1257300" y="4133850"/>
            <a:ext cx="4705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Documentação presente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2EE557B-E73C-4F39-B9F2-2F409A950FF4}"/>
              </a:ext>
            </a:extLst>
          </p:cNvPr>
          <p:cNvSpPr>
            <a:spLocks noGrp="1"/>
          </p:cNvSpPr>
          <p:nvPr/>
        </p:nvSpPr>
        <p:spPr>
          <a:xfrm>
            <a:off x="914400" y="452437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B6C62DE-321A-4330-9BDF-6BE336FC5D0E}"/>
              </a:ext>
            </a:extLst>
          </p:cNvPr>
          <p:cNvSpPr>
            <a:spLocks noGrp="1"/>
          </p:cNvSpPr>
          <p:nvPr/>
        </p:nvSpPr>
        <p:spPr>
          <a:xfrm>
            <a:off x="1257300" y="4495800"/>
            <a:ext cx="4705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Veículo devolvido limpo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55D6CF4-5A84-4C17-AEEC-A1A6AA8D5A7B}"/>
              </a:ext>
            </a:extLst>
          </p:cNvPr>
          <p:cNvSpPr>
            <a:spLocks noGrp="1"/>
          </p:cNvSpPr>
          <p:nvPr/>
        </p:nvSpPr>
        <p:spPr>
          <a:xfrm>
            <a:off x="914400" y="488632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1A600C2-7699-4F59-9B54-F25FB99FEEBF}"/>
              </a:ext>
            </a:extLst>
          </p:cNvPr>
          <p:cNvSpPr>
            <a:spLocks noGrp="1"/>
          </p:cNvSpPr>
          <p:nvPr/>
        </p:nvSpPr>
        <p:spPr>
          <a:xfrm>
            <a:off x="1257300" y="4857750"/>
            <a:ext cx="4705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Avaria durante a utilização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844498B-CD4C-44AD-B434-047502148E8D}"/>
              </a:ext>
            </a:extLst>
          </p:cNvPr>
          <p:cNvSpPr>
            <a:spLocks noGrp="1"/>
          </p:cNvSpPr>
          <p:nvPr/>
        </p:nvSpPr>
        <p:spPr>
          <a:xfrm>
            <a:off x="914400" y="524827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43C6402-86EA-49E1-8BCC-416E8153A385}"/>
              </a:ext>
            </a:extLst>
          </p:cNvPr>
          <p:cNvSpPr>
            <a:spLocks noGrp="1"/>
          </p:cNvSpPr>
          <p:nvPr/>
        </p:nvSpPr>
        <p:spPr>
          <a:xfrm>
            <a:off x="1257300" y="5219700"/>
            <a:ext cx="4705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Alertas acesos no painel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E807479-B2D6-44B0-B070-631DFFC47BF8}"/>
              </a:ext>
            </a:extLst>
          </p:cNvPr>
          <p:cNvSpPr>
            <a:spLocks noGrp="1"/>
          </p:cNvSpPr>
          <p:nvPr/>
        </p:nvSpPr>
        <p:spPr>
          <a:xfrm>
            <a:off x="914400" y="561022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251E67B-C14F-4A18-87DA-D1511CBED441}"/>
              </a:ext>
            </a:extLst>
          </p:cNvPr>
          <p:cNvSpPr>
            <a:spLocks noGrp="1"/>
          </p:cNvSpPr>
          <p:nvPr/>
        </p:nvSpPr>
        <p:spPr>
          <a:xfrm>
            <a:off x="1257300" y="5581650"/>
            <a:ext cx="4705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Multas ou ocorrências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5669689-240E-4DC8-A714-126864F43FEF}"/>
              </a:ext>
            </a:extLst>
          </p:cNvPr>
          <p:cNvSpPr>
            <a:spLocks noGrp="1"/>
          </p:cNvSpPr>
          <p:nvPr/>
        </p:nvSpPr>
        <p:spPr>
          <a:xfrm>
            <a:off x="914400" y="5972175"/>
            <a:ext cx="228600" cy="228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BE4EF"/>
            </a:solidFill>
            <a:prstDash val="solid"/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7D5934CD-5E5C-4B60-90EF-230FD87FCE3A}"/>
              </a:ext>
            </a:extLst>
          </p:cNvPr>
          <p:cNvSpPr>
            <a:spLocks noGrp="1"/>
          </p:cNvSpPr>
          <p:nvPr/>
        </p:nvSpPr>
        <p:spPr>
          <a:xfrm>
            <a:off x="1257300" y="5943600"/>
            <a:ext cx="4705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Observações da devolução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E164049-7387-4AF0-9069-E10A3D097684}"/>
              </a:ext>
            </a:extLst>
          </p:cNvPr>
          <p:cNvSpPr>
            <a:spLocks noGrp="1"/>
          </p:cNvSpPr>
          <p:nvPr/>
        </p:nvSpPr>
        <p:spPr>
          <a:xfrm>
            <a:off x="6858000" y="2266950"/>
            <a:ext cx="4095750" cy="2714625"/>
          </a:xfrm>
          <a:prstGeom prst="rect">
            <a:avLst/>
          </a:prstGeom>
          <a:solidFill>
            <a:srgbClr val="FFF7ED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5E1D5B2-3A94-4A9A-98D4-AB813E1B3E02}"/>
              </a:ext>
            </a:extLst>
          </p:cNvPr>
          <p:cNvSpPr>
            <a:spLocks noGrp="1"/>
          </p:cNvSpPr>
          <p:nvPr/>
        </p:nvSpPr>
        <p:spPr>
          <a:xfrm>
            <a:off x="7143750" y="2571750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9A3412"/>
                </a:solidFill>
                <a:latin typeface="Aptos"/>
                <a:ea typeface="Aptos"/>
                <a:cs typeface="Aptos"/>
              </a:rPr>
              <a:t>Regra de combustível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E5B3ACD-05B9-43A5-BE9F-2BCD881B0CE2}"/>
              </a:ext>
            </a:extLst>
          </p:cNvPr>
          <p:cNvSpPr>
            <a:spLocks noGrp="1"/>
          </p:cNvSpPr>
          <p:nvPr/>
        </p:nvSpPr>
        <p:spPr>
          <a:xfrm>
            <a:off x="7162800" y="3105150"/>
            <a:ext cx="33337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Se o veículo estiver com 1/4 de tanque ou menos na devolução, o colaborador deve abastecer antes da entrega quando houver posto disponível e aberto.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8EA575F-86CF-47B8-86C3-1D7AED3C9FC5}"/>
              </a:ext>
            </a:extLst>
          </p:cNvPr>
          <p:cNvSpPr>
            <a:spLocks noGrp="1"/>
          </p:cNvSpPr>
          <p:nvPr/>
        </p:nvSpPr>
        <p:spPr>
          <a:xfrm>
            <a:off x="7162800" y="4171950"/>
            <a:ext cx="32861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Quando não for possível, o motivo fica registrado nas observações.</a:t>
            </a:r>
          </a:p>
        </p:txBody>
      </p:sp>
    </p:spTree>
    <p:extLst>
      <p:ext uri="{BB962C8B-B14F-4D97-AF65-F5344CB8AC3E}">
        <p14:creationId xmlns:p14="http://schemas.microsoft.com/office/powerpoint/2010/main" val="1851038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tângulo 51">
            <a:extLst>
              <a:ext uri="{FF2B5EF4-FFF2-40B4-BE49-F238E27FC236}">
                <a16:creationId xmlns:a16="http://schemas.microsoft.com/office/drawing/2014/main" id="{85777745-AAB2-443C-9EDA-BD4856718A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965E69C-E769-4B0E-B619-0258E94446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0546594-EFD6-4740-9C32-B0022A938FF6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MakerCar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6B0EA2D-1718-4C58-99D3-F99B49BAFD97}"/>
              </a:ext>
            </a:extLst>
          </p:cNvPr>
          <p:cNvSpPr>
            <a:spLocks noGrp="1"/>
          </p:cNvSpPr>
          <p:nvPr/>
        </p:nvSpPr>
        <p:spPr>
          <a:xfrm>
            <a:off x="9858375" y="2857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Histórico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88A3AA6-CA79-47EE-86F2-D2AA79BD4536}"/>
              </a:ext>
            </a:extLst>
          </p:cNvPr>
          <p:cNvSpPr>
            <a:spLocks noGrp="1"/>
          </p:cNvSpPr>
          <p:nvPr/>
        </p:nvSpPr>
        <p:spPr>
          <a:xfrm>
            <a:off x="514350" y="742950"/>
            <a:ext cx="7239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histórico ganhou visualização organizada dos checklists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CBBD50F-7F43-4E95-ABD0-56D024E90FFD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715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Cada registro pode abrir o checklist de retirada e o checklist de devolução sem poluir a tabela principal.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5B0AC46-A52D-4C3E-B0E8-2A35240F57DA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102870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FEA9957-CB84-424A-9FFD-4A11744E954C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10287000" cy="438150"/>
          </a:xfrm>
          <a:prstGeom prst="rect">
            <a:avLst/>
          </a:prstGeom>
          <a:solidFill>
            <a:srgbClr val="EEF4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6EED0D4-8AEA-4D07-A1D0-FE9A75FE56E7}"/>
              </a:ext>
            </a:extLst>
          </p:cNvPr>
          <p:cNvSpPr>
            <a:spLocks noGrp="1"/>
          </p:cNvSpPr>
          <p:nvPr/>
        </p:nvSpPr>
        <p:spPr>
          <a:xfrm>
            <a:off x="952500" y="22002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Solicitante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BCE50AA-8D24-4C01-B3EC-A64321D716F0}"/>
              </a:ext>
            </a:extLst>
          </p:cNvPr>
          <p:cNvSpPr>
            <a:spLocks noGrp="1"/>
          </p:cNvSpPr>
          <p:nvPr/>
        </p:nvSpPr>
        <p:spPr>
          <a:xfrm>
            <a:off x="2476500" y="22002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Veículo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36360A9-BC6A-4CF8-AD6E-8F13904F7951}"/>
              </a:ext>
            </a:extLst>
          </p:cNvPr>
          <p:cNvSpPr>
            <a:spLocks noGrp="1"/>
          </p:cNvSpPr>
          <p:nvPr/>
        </p:nvSpPr>
        <p:spPr>
          <a:xfrm>
            <a:off x="3857625" y="22002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Saída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CA605C2-725B-44B2-A7BA-18FA2A92D9B5}"/>
              </a:ext>
            </a:extLst>
          </p:cNvPr>
          <p:cNvSpPr>
            <a:spLocks noGrp="1"/>
          </p:cNvSpPr>
          <p:nvPr/>
        </p:nvSpPr>
        <p:spPr>
          <a:xfrm>
            <a:off x="5191125" y="22002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Retorno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9C5E861-9245-459A-AAD0-55293D37E530}"/>
              </a:ext>
            </a:extLst>
          </p:cNvPr>
          <p:cNvSpPr>
            <a:spLocks noGrp="1"/>
          </p:cNvSpPr>
          <p:nvPr/>
        </p:nvSpPr>
        <p:spPr>
          <a:xfrm>
            <a:off x="6667500" y="22002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KM inicial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6833E9E-3D0C-4C6F-9C77-136415E67FCC}"/>
              </a:ext>
            </a:extLst>
          </p:cNvPr>
          <p:cNvSpPr>
            <a:spLocks noGrp="1"/>
          </p:cNvSpPr>
          <p:nvPr/>
        </p:nvSpPr>
        <p:spPr>
          <a:xfrm>
            <a:off x="7953375" y="22002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KM final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BB5C5E9-C93B-4184-B4AA-3241875BFC6B}"/>
              </a:ext>
            </a:extLst>
          </p:cNvPr>
          <p:cNvSpPr>
            <a:spLocks noGrp="1"/>
          </p:cNvSpPr>
          <p:nvPr/>
        </p:nvSpPr>
        <p:spPr>
          <a:xfrm>
            <a:off x="9334500" y="22002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Checklist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8CBEC8C-9097-49F0-AEB7-12043AC58243}"/>
              </a:ext>
            </a:extLst>
          </p:cNvPr>
          <p:cNvSpPr>
            <a:spLocks noGrp="1"/>
          </p:cNvSpPr>
          <p:nvPr/>
        </p:nvSpPr>
        <p:spPr>
          <a:xfrm>
            <a:off x="914400" y="2514600"/>
            <a:ext cx="9429750" cy="9525"/>
          </a:xfrm>
          <a:prstGeom prst="rect">
            <a:avLst/>
          </a:prstGeom>
          <a:solidFill>
            <a:srgbClr val="EDF2F7"/>
          </a:solidFill>
          <a:ln w="0">
            <a:solidFill>
              <a:srgbClr val="EDF2F7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3CA3042-6485-4B7A-AC16-C49FFE3BD29F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Colaborador 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7E2C555-C1FC-4593-8FB5-F68AAEDE02EA}"/>
              </a:ext>
            </a:extLst>
          </p:cNvPr>
          <p:cNvSpPr>
            <a:spLocks noGrp="1"/>
          </p:cNvSpPr>
          <p:nvPr/>
        </p:nvSpPr>
        <p:spPr>
          <a:xfrm>
            <a:off x="2476500" y="26860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BKA3F78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7BEF4EF-9535-4EDC-97E1-5CC48813EF57}"/>
              </a:ext>
            </a:extLst>
          </p:cNvPr>
          <p:cNvSpPr>
            <a:spLocks noGrp="1"/>
          </p:cNvSpPr>
          <p:nvPr/>
        </p:nvSpPr>
        <p:spPr>
          <a:xfrm>
            <a:off x="3857625" y="26860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18/06/2026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089FB68-71F2-48B2-896D-0F32917ECF36}"/>
              </a:ext>
            </a:extLst>
          </p:cNvPr>
          <p:cNvSpPr>
            <a:spLocks noGrp="1"/>
          </p:cNvSpPr>
          <p:nvPr/>
        </p:nvSpPr>
        <p:spPr>
          <a:xfrm>
            <a:off x="5191125" y="26860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22/06/2026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5710801-E81F-48D0-BE3B-5D3C3A525707}"/>
              </a:ext>
            </a:extLst>
          </p:cNvPr>
          <p:cNvSpPr>
            <a:spLocks noGrp="1"/>
          </p:cNvSpPr>
          <p:nvPr/>
        </p:nvSpPr>
        <p:spPr>
          <a:xfrm>
            <a:off x="6667500" y="26860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12231231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0736069-33AB-4B35-A469-629BB7CDE8A2}"/>
              </a:ext>
            </a:extLst>
          </p:cNvPr>
          <p:cNvSpPr>
            <a:spLocks noGrp="1"/>
          </p:cNvSpPr>
          <p:nvPr/>
        </p:nvSpPr>
        <p:spPr>
          <a:xfrm>
            <a:off x="7953375" y="26860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12313123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6904002-6C1D-45EE-A4E6-14A9797458B7}"/>
              </a:ext>
            </a:extLst>
          </p:cNvPr>
          <p:cNvSpPr>
            <a:spLocks noGrp="1"/>
          </p:cNvSpPr>
          <p:nvPr/>
        </p:nvSpPr>
        <p:spPr>
          <a:xfrm>
            <a:off x="9086850" y="2647950"/>
            <a:ext cx="8382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D7DB032-78B1-412D-B071-30520EBA6ED1}"/>
              </a:ext>
            </a:extLst>
          </p:cNvPr>
          <p:cNvSpPr>
            <a:spLocks noGrp="1"/>
          </p:cNvSpPr>
          <p:nvPr/>
        </p:nvSpPr>
        <p:spPr>
          <a:xfrm>
            <a:off x="9201150" y="2724150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Retirada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894796A-BE95-4053-A6FF-21D50F663698}"/>
              </a:ext>
            </a:extLst>
          </p:cNvPr>
          <p:cNvSpPr>
            <a:spLocks noGrp="1"/>
          </p:cNvSpPr>
          <p:nvPr/>
        </p:nvSpPr>
        <p:spPr>
          <a:xfrm>
            <a:off x="10001250" y="2647950"/>
            <a:ext cx="8382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C00C0C5-27D3-4A7B-9626-049D2458CBAF}"/>
              </a:ext>
            </a:extLst>
          </p:cNvPr>
          <p:cNvSpPr>
            <a:spLocks noGrp="1"/>
          </p:cNvSpPr>
          <p:nvPr/>
        </p:nvSpPr>
        <p:spPr>
          <a:xfrm>
            <a:off x="10106025" y="2724150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Devolução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5EDB824-136B-4B3D-A251-AFBFCDF14A23}"/>
              </a:ext>
            </a:extLst>
          </p:cNvPr>
          <p:cNvSpPr>
            <a:spLocks noGrp="1"/>
          </p:cNvSpPr>
          <p:nvPr/>
        </p:nvSpPr>
        <p:spPr>
          <a:xfrm>
            <a:off x="914400" y="3200400"/>
            <a:ext cx="9429750" cy="9525"/>
          </a:xfrm>
          <a:prstGeom prst="rect">
            <a:avLst/>
          </a:prstGeom>
          <a:solidFill>
            <a:srgbClr val="EDF2F7"/>
          </a:solidFill>
          <a:ln w="0">
            <a:solidFill>
              <a:srgbClr val="EDF2F7"/>
            </a:solidFill>
            <a:prstDash val="solid"/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0B3F4A2-51F0-4750-9D97-5875D38A763A}"/>
              </a:ext>
            </a:extLst>
          </p:cNvPr>
          <p:cNvSpPr>
            <a:spLocks noGrp="1"/>
          </p:cNvSpPr>
          <p:nvPr/>
        </p:nvSpPr>
        <p:spPr>
          <a:xfrm>
            <a:off x="952500" y="3371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Colaborador B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2C5A8AEE-EF1C-4158-84B7-55554BB0ED3D}"/>
              </a:ext>
            </a:extLst>
          </p:cNvPr>
          <p:cNvSpPr>
            <a:spLocks noGrp="1"/>
          </p:cNvSpPr>
          <p:nvPr/>
        </p:nvSpPr>
        <p:spPr>
          <a:xfrm>
            <a:off x="2476500" y="3371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BKA3F78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24BF515-13A3-4A77-B2EB-7F7377B76C31}"/>
              </a:ext>
            </a:extLst>
          </p:cNvPr>
          <p:cNvSpPr>
            <a:spLocks noGrp="1"/>
          </p:cNvSpPr>
          <p:nvPr/>
        </p:nvSpPr>
        <p:spPr>
          <a:xfrm>
            <a:off x="3857625" y="3371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04/06/2026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FBB0602-F014-49B0-A0DA-E4E09766074F}"/>
              </a:ext>
            </a:extLst>
          </p:cNvPr>
          <p:cNvSpPr>
            <a:spLocks noGrp="1"/>
          </p:cNvSpPr>
          <p:nvPr/>
        </p:nvSpPr>
        <p:spPr>
          <a:xfrm>
            <a:off x="5191125" y="3371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16/06/2026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703D0E25-18B7-4ADB-875C-C3D344AFB4A0}"/>
              </a:ext>
            </a:extLst>
          </p:cNvPr>
          <p:cNvSpPr>
            <a:spLocks noGrp="1"/>
          </p:cNvSpPr>
          <p:nvPr/>
        </p:nvSpPr>
        <p:spPr>
          <a:xfrm>
            <a:off x="6667500" y="3371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71E5C1DE-4466-4270-ACA3-399C83F65FB1}"/>
              </a:ext>
            </a:extLst>
          </p:cNvPr>
          <p:cNvSpPr>
            <a:spLocks noGrp="1"/>
          </p:cNvSpPr>
          <p:nvPr/>
        </p:nvSpPr>
        <p:spPr>
          <a:xfrm>
            <a:off x="7953375" y="3371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6789246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4C244070-BEA1-4F59-9910-A5BD7E9129C4}"/>
              </a:ext>
            </a:extLst>
          </p:cNvPr>
          <p:cNvSpPr>
            <a:spLocks noGrp="1"/>
          </p:cNvSpPr>
          <p:nvPr/>
        </p:nvSpPr>
        <p:spPr>
          <a:xfrm>
            <a:off x="9086850" y="3333750"/>
            <a:ext cx="8382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2D6581A9-FC29-4AE2-8CBA-47DA047F6A00}"/>
              </a:ext>
            </a:extLst>
          </p:cNvPr>
          <p:cNvSpPr>
            <a:spLocks noGrp="1"/>
          </p:cNvSpPr>
          <p:nvPr/>
        </p:nvSpPr>
        <p:spPr>
          <a:xfrm>
            <a:off x="9201150" y="3409950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Retirada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BF3DF15B-C023-41B2-B683-474AFFA6BAB2}"/>
              </a:ext>
            </a:extLst>
          </p:cNvPr>
          <p:cNvSpPr>
            <a:spLocks noGrp="1"/>
          </p:cNvSpPr>
          <p:nvPr/>
        </p:nvSpPr>
        <p:spPr>
          <a:xfrm>
            <a:off x="10001250" y="3333750"/>
            <a:ext cx="8382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DC49E2B7-6692-4395-BB92-9BBF76E9C745}"/>
              </a:ext>
            </a:extLst>
          </p:cNvPr>
          <p:cNvSpPr>
            <a:spLocks noGrp="1"/>
          </p:cNvSpPr>
          <p:nvPr/>
        </p:nvSpPr>
        <p:spPr>
          <a:xfrm>
            <a:off x="10106025" y="3409950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Devolução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1E64876C-A7F4-4CE5-95E2-6DF9C349BE9D}"/>
              </a:ext>
            </a:extLst>
          </p:cNvPr>
          <p:cNvSpPr>
            <a:spLocks noGrp="1"/>
          </p:cNvSpPr>
          <p:nvPr/>
        </p:nvSpPr>
        <p:spPr>
          <a:xfrm>
            <a:off x="914400" y="3886200"/>
            <a:ext cx="9429750" cy="9525"/>
          </a:xfrm>
          <a:prstGeom prst="rect">
            <a:avLst/>
          </a:prstGeom>
          <a:solidFill>
            <a:srgbClr val="EDF2F7"/>
          </a:solidFill>
          <a:ln w="0">
            <a:solidFill>
              <a:srgbClr val="EDF2F7"/>
            </a:solidFill>
            <a:prstDash val="solid"/>
          </a:ln>
        </p:spPr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7139FA16-F264-4D23-B384-62E27A5C88E8}"/>
              </a:ext>
            </a:extLst>
          </p:cNvPr>
          <p:cNvSpPr>
            <a:spLocks noGrp="1"/>
          </p:cNvSpPr>
          <p:nvPr/>
        </p:nvSpPr>
        <p:spPr>
          <a:xfrm>
            <a:off x="952500" y="40576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Colaborador C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EC4F0CF4-FD5A-44BF-9E8F-75808DC39A1C}"/>
              </a:ext>
            </a:extLst>
          </p:cNvPr>
          <p:cNvSpPr>
            <a:spLocks noGrp="1"/>
          </p:cNvSpPr>
          <p:nvPr/>
        </p:nvSpPr>
        <p:spPr>
          <a:xfrm>
            <a:off x="2476500" y="40576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BKA3F78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A3551E7C-879F-48E5-9F1F-61B8ADD3C671}"/>
              </a:ext>
            </a:extLst>
          </p:cNvPr>
          <p:cNvSpPr>
            <a:spLocks noGrp="1"/>
          </p:cNvSpPr>
          <p:nvPr/>
        </p:nvSpPr>
        <p:spPr>
          <a:xfrm>
            <a:off x="3857625" y="40576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23/06/2026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A3F26A24-5A5B-4651-96CF-7D815C1A7959}"/>
              </a:ext>
            </a:extLst>
          </p:cNvPr>
          <p:cNvSpPr>
            <a:spLocks noGrp="1"/>
          </p:cNvSpPr>
          <p:nvPr/>
        </p:nvSpPr>
        <p:spPr>
          <a:xfrm>
            <a:off x="5191125" y="40576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24/06/2026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118F6EF7-DE68-4D00-BC52-AC494C3D0EFB}"/>
              </a:ext>
            </a:extLst>
          </p:cNvPr>
          <p:cNvSpPr>
            <a:spLocks noGrp="1"/>
          </p:cNvSpPr>
          <p:nvPr/>
        </p:nvSpPr>
        <p:spPr>
          <a:xfrm>
            <a:off x="6667500" y="40576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242342342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D6E824DE-8214-4A88-816F-DB761FD8D035}"/>
              </a:ext>
            </a:extLst>
          </p:cNvPr>
          <p:cNvSpPr>
            <a:spLocks noGrp="1"/>
          </p:cNvSpPr>
          <p:nvPr/>
        </p:nvSpPr>
        <p:spPr>
          <a:xfrm>
            <a:off x="7953375" y="40576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242342342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54DF6CAA-CE11-4825-BCEE-858D7E2EDD4D}"/>
              </a:ext>
            </a:extLst>
          </p:cNvPr>
          <p:cNvSpPr>
            <a:spLocks noGrp="1"/>
          </p:cNvSpPr>
          <p:nvPr/>
        </p:nvSpPr>
        <p:spPr>
          <a:xfrm>
            <a:off x="9086850" y="4019550"/>
            <a:ext cx="8382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CE3AC50A-0405-49AA-BD6E-1D79DB4C910A}"/>
              </a:ext>
            </a:extLst>
          </p:cNvPr>
          <p:cNvSpPr>
            <a:spLocks noGrp="1"/>
          </p:cNvSpPr>
          <p:nvPr/>
        </p:nvSpPr>
        <p:spPr>
          <a:xfrm>
            <a:off x="9201150" y="4095750"/>
            <a:ext cx="590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Retirada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CA6889F5-DD24-4DE3-8858-DFD457BA9089}"/>
              </a:ext>
            </a:extLst>
          </p:cNvPr>
          <p:cNvSpPr>
            <a:spLocks noGrp="1"/>
          </p:cNvSpPr>
          <p:nvPr/>
        </p:nvSpPr>
        <p:spPr>
          <a:xfrm>
            <a:off x="10001250" y="4019550"/>
            <a:ext cx="8382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B761C623-0B5D-4947-A2B8-ABD25C3D9891}"/>
              </a:ext>
            </a:extLst>
          </p:cNvPr>
          <p:cNvSpPr>
            <a:spLocks noGrp="1"/>
          </p:cNvSpPr>
          <p:nvPr/>
        </p:nvSpPr>
        <p:spPr>
          <a:xfrm>
            <a:off x="10106025" y="4095750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Devolução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04165463-29D5-46C8-9840-063171346456}"/>
              </a:ext>
            </a:extLst>
          </p:cNvPr>
          <p:cNvSpPr>
            <a:spLocks noGrp="1"/>
          </p:cNvSpPr>
          <p:nvPr/>
        </p:nvSpPr>
        <p:spPr>
          <a:xfrm>
            <a:off x="819150" y="5505450"/>
            <a:ext cx="1104900" cy="285750"/>
          </a:xfrm>
          <a:prstGeom prst="rect">
            <a:avLst/>
          </a:prstGeom>
          <a:solidFill>
            <a:srgbClr val="DBEA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92B69264-E1BE-423A-A9DE-75CC98CD0223}"/>
              </a:ext>
            </a:extLst>
          </p:cNvPr>
          <p:cNvSpPr>
            <a:spLocks noGrp="1"/>
          </p:cNvSpPr>
          <p:nvPr/>
        </p:nvSpPr>
        <p:spPr>
          <a:xfrm>
            <a:off x="952500" y="5572125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Organização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4436385A-32C6-4D34-ABFD-4F677660F2A9}"/>
              </a:ext>
            </a:extLst>
          </p:cNvPr>
          <p:cNvSpPr>
            <a:spLocks noGrp="1"/>
          </p:cNvSpPr>
          <p:nvPr/>
        </p:nvSpPr>
        <p:spPr>
          <a:xfrm>
            <a:off x="2095500" y="55626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 tabela continua limpa, e os detalhes aparecem sob demanda em botões separados.</a:t>
            </a:r>
          </a:p>
        </p:txBody>
      </p:sp>
    </p:spTree>
    <p:extLst>
      <p:ext uri="{BB962C8B-B14F-4D97-AF65-F5344CB8AC3E}">
        <p14:creationId xmlns:p14="http://schemas.microsoft.com/office/powerpoint/2010/main" val="1309174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35C840D7-A544-4161-9EE6-E41ACEEFA7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E6FDA67-DB4A-496B-80EC-2C79315C08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0126A4B-5665-4118-9233-3EE1151CEEDD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MakerCar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7EF3F8D-E4CE-4220-805A-DA48F1488F2A}"/>
              </a:ext>
            </a:extLst>
          </p:cNvPr>
          <p:cNvSpPr>
            <a:spLocks noGrp="1"/>
          </p:cNvSpPr>
          <p:nvPr/>
        </p:nvSpPr>
        <p:spPr>
          <a:xfrm>
            <a:off x="9858375" y="2857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Publicação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26F5381-7D48-433E-AC32-972DE355F3C6}"/>
              </a:ext>
            </a:extLst>
          </p:cNvPr>
          <p:cNvSpPr>
            <a:spLocks noGrp="1"/>
          </p:cNvSpPr>
          <p:nvPr/>
        </p:nvSpPr>
        <p:spPr>
          <a:xfrm>
            <a:off x="514350" y="742950"/>
            <a:ext cx="7239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Entrega publicada e pronta para validação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1DD07C7-CF7C-4E2E-93A1-E95AA281F457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7715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As mudanças foram versionadas e publicadas para conferência no site.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8B13903-57B2-4921-BF0E-DE7314746029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3143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C890E23-1CEB-4FE3-A84F-2A9C25ADAFF4}"/>
              </a:ext>
            </a:extLst>
          </p:cNvPr>
          <p:cNvSpPr>
            <a:spLocks noGrp="1"/>
          </p:cNvSpPr>
          <p:nvPr/>
        </p:nvSpPr>
        <p:spPr>
          <a:xfrm>
            <a:off x="971550" y="2457450"/>
            <a:ext cx="228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Código versionado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0DD9A43-D34B-4232-A72A-628AAE8D038B}"/>
              </a:ext>
            </a:extLst>
          </p:cNvPr>
          <p:cNvSpPr>
            <a:spLocks noGrp="1"/>
          </p:cNvSpPr>
          <p:nvPr/>
        </p:nvSpPr>
        <p:spPr>
          <a:xfrm>
            <a:off x="990600" y="3181350"/>
            <a:ext cx="85725" cy="85725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77E362C-7E97-40C6-8E8C-CEE102908895}"/>
              </a:ext>
            </a:extLst>
          </p:cNvPr>
          <p:cNvSpPr>
            <a:spLocks noGrp="1"/>
          </p:cNvSpPr>
          <p:nvPr/>
        </p:nvSpPr>
        <p:spPr>
          <a:xfrm>
            <a:off x="1181100" y="3105150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Checklists implementados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E4A0B36-1F29-4D37-91EB-E2F5FEE475E2}"/>
              </a:ext>
            </a:extLst>
          </p:cNvPr>
          <p:cNvSpPr>
            <a:spLocks noGrp="1"/>
          </p:cNvSpPr>
          <p:nvPr/>
        </p:nvSpPr>
        <p:spPr>
          <a:xfrm>
            <a:off x="990600" y="3733800"/>
            <a:ext cx="85725" cy="857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DB41F68-A3C0-460A-9230-09073E96DDD8}"/>
              </a:ext>
            </a:extLst>
          </p:cNvPr>
          <p:cNvSpPr>
            <a:spLocks noGrp="1"/>
          </p:cNvSpPr>
          <p:nvPr/>
        </p:nvSpPr>
        <p:spPr>
          <a:xfrm>
            <a:off x="1181100" y="3657600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Histórico com botões de visualização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69C6388-0FA1-4AEB-B25B-41B868417ECB}"/>
              </a:ext>
            </a:extLst>
          </p:cNvPr>
          <p:cNvSpPr>
            <a:spLocks noGrp="1"/>
          </p:cNvSpPr>
          <p:nvPr/>
        </p:nvSpPr>
        <p:spPr>
          <a:xfrm>
            <a:off x="4514850" y="2143125"/>
            <a:ext cx="3143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A6596D4-7CE0-467B-946B-077425AECD3A}"/>
              </a:ext>
            </a:extLst>
          </p:cNvPr>
          <p:cNvSpPr>
            <a:spLocks noGrp="1"/>
          </p:cNvSpPr>
          <p:nvPr/>
        </p:nvSpPr>
        <p:spPr>
          <a:xfrm>
            <a:off x="4800600" y="2457450"/>
            <a:ext cx="228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Publicação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F07785C-608D-457B-8790-2002DD75A1D3}"/>
              </a:ext>
            </a:extLst>
          </p:cNvPr>
          <p:cNvSpPr>
            <a:spLocks noGrp="1"/>
          </p:cNvSpPr>
          <p:nvPr/>
        </p:nvSpPr>
        <p:spPr>
          <a:xfrm>
            <a:off x="4819650" y="3181350"/>
            <a:ext cx="85725" cy="857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50A39F0-6C7A-4D19-B81F-52222BEF5E49}"/>
              </a:ext>
            </a:extLst>
          </p:cNvPr>
          <p:cNvSpPr>
            <a:spLocks noGrp="1"/>
          </p:cNvSpPr>
          <p:nvPr/>
        </p:nvSpPr>
        <p:spPr>
          <a:xfrm>
            <a:off x="5010150" y="3105150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Frontend enviado para Vercel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9C487A0-51DB-4F45-B06D-7DE387966772}"/>
              </a:ext>
            </a:extLst>
          </p:cNvPr>
          <p:cNvSpPr>
            <a:spLocks noGrp="1"/>
          </p:cNvSpPr>
          <p:nvPr/>
        </p:nvSpPr>
        <p:spPr>
          <a:xfrm>
            <a:off x="4819650" y="3733800"/>
            <a:ext cx="85725" cy="85725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EEC85AC-C17C-4E1E-8376-E056CB190710}"/>
              </a:ext>
            </a:extLst>
          </p:cNvPr>
          <p:cNvSpPr>
            <a:spLocks noGrp="1"/>
          </p:cNvSpPr>
          <p:nvPr/>
        </p:nvSpPr>
        <p:spPr>
          <a:xfrm>
            <a:off x="5010150" y="3657600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Domínio makercar.site validado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0B72127-6983-40F6-9269-08368E662DBB}"/>
              </a:ext>
            </a:extLst>
          </p:cNvPr>
          <p:cNvSpPr>
            <a:spLocks noGrp="1"/>
          </p:cNvSpPr>
          <p:nvPr/>
        </p:nvSpPr>
        <p:spPr>
          <a:xfrm>
            <a:off x="8343900" y="2143125"/>
            <a:ext cx="3143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7377803-FD75-4AF0-BE86-C2F882DC3C2F}"/>
              </a:ext>
            </a:extLst>
          </p:cNvPr>
          <p:cNvSpPr>
            <a:spLocks noGrp="1"/>
          </p:cNvSpPr>
          <p:nvPr/>
        </p:nvSpPr>
        <p:spPr>
          <a:xfrm>
            <a:off x="8629650" y="2457450"/>
            <a:ext cx="228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Validação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106A230-D3AA-4A42-AD1B-D60F31BAE0DD}"/>
              </a:ext>
            </a:extLst>
          </p:cNvPr>
          <p:cNvSpPr>
            <a:spLocks noGrp="1"/>
          </p:cNvSpPr>
          <p:nvPr/>
        </p:nvSpPr>
        <p:spPr>
          <a:xfrm>
            <a:off x="8648700" y="3181350"/>
            <a:ext cx="85725" cy="85725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9686E1C-A7F0-44DA-97C2-6F511D567836}"/>
              </a:ext>
            </a:extLst>
          </p:cNvPr>
          <p:cNvSpPr>
            <a:spLocks noGrp="1"/>
          </p:cNvSpPr>
          <p:nvPr/>
        </p:nvSpPr>
        <p:spPr>
          <a:xfrm>
            <a:off x="8839200" y="3105150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Build e tipagem conferidos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27B8C4F-5EB1-4B3D-B676-C7D99BE0F8AF}"/>
              </a:ext>
            </a:extLst>
          </p:cNvPr>
          <p:cNvSpPr>
            <a:spLocks noGrp="1"/>
          </p:cNvSpPr>
          <p:nvPr/>
        </p:nvSpPr>
        <p:spPr>
          <a:xfrm>
            <a:off x="8648700" y="3733800"/>
            <a:ext cx="85725" cy="85725"/>
          </a:xfrm>
          <a:prstGeom prst="rect">
            <a:avLst/>
          </a:prstGeom>
          <a:solidFill>
            <a:srgbClr val="123B91"/>
          </a:solidFill>
          <a:ln w="0">
            <a:solidFill>
              <a:srgbClr val="123B91"/>
            </a:solidFill>
            <a:prstDash val="solid"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8E8F702-55F1-43DB-AD15-7EBF8BA62023}"/>
              </a:ext>
            </a:extLst>
          </p:cNvPr>
          <p:cNvSpPr>
            <a:spLocks noGrp="1"/>
          </p:cNvSpPr>
          <p:nvPr/>
        </p:nvSpPr>
        <p:spPr>
          <a:xfrm>
            <a:off x="8839200" y="3657600"/>
            <a:ext cx="219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Fluxo pronto para teste de uso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7A6BA52-9E42-497C-9AC2-3C60A935D498}"/>
              </a:ext>
            </a:extLst>
          </p:cNvPr>
          <p:cNvSpPr>
            <a:spLocks noGrp="1"/>
          </p:cNvSpPr>
          <p:nvPr/>
        </p:nvSpPr>
        <p:spPr>
          <a:xfrm>
            <a:off x="1066800" y="5238750"/>
            <a:ext cx="8858250" cy="609600"/>
          </a:xfrm>
          <a:prstGeom prst="rect">
            <a:avLst/>
          </a:prstGeom>
          <a:solidFill>
            <a:srgbClr val="EFF6FF"/>
          </a:solidFill>
          <a:ln w="9525">
            <a:solidFill>
              <a:srgbClr val="DBE4EF"/>
            </a:solidFill>
            <a:prstDash val="solid"/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A5AA1FF-45E1-4DD6-9F05-DC5E5FACC86D}"/>
              </a:ext>
            </a:extLst>
          </p:cNvPr>
          <p:cNvSpPr>
            <a:spLocks noGrp="1"/>
          </p:cNvSpPr>
          <p:nvPr/>
        </p:nvSpPr>
        <p:spPr>
          <a:xfrm>
            <a:off x="1390650" y="5410200"/>
            <a:ext cx="790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3B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B91"/>
                </a:solidFill>
                <a:latin typeface="Aptos"/>
                <a:ea typeface="Aptos"/>
                <a:cs typeface="Aptos"/>
              </a:rPr>
              <a:t>Próximo passo: validar no site com casos reais de retirada e devolução.</a:t>
            </a:r>
          </a:p>
        </p:txBody>
      </p:sp>
    </p:spTree>
    <p:extLst>
      <p:ext uri="{BB962C8B-B14F-4D97-AF65-F5344CB8AC3E}">
        <p14:creationId xmlns:p14="http://schemas.microsoft.com/office/powerpoint/2010/main" val="14342642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</Words>
  <Application>Microsoft Office PowerPoint</Application>
  <DocSecurity>0</DocSecurity>
  <PresentationFormat>Widescreen</PresentationFormat>
  <Paragraphs>147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Aptos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KernelOS</cp:lastModifiedBy>
  <cp:revision>1</cp:revision>
  <dcterms:created xsi:type="dcterms:W3CDTF">2026-06-18T12:59:11Z</dcterms:created>
  <dcterms:modified xsi:type="dcterms:W3CDTF">2026-06-18T13:04:31Z</dcterms:modified>
</cp:coreProperties>
</file>